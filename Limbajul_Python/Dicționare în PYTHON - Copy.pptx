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2" r:id="rId3"/>
    <p:sldId id="293" r:id="rId4"/>
    <p:sldId id="294" r:id="rId5"/>
    <p:sldId id="295" r:id="rId6"/>
    <p:sldId id="296" r:id="rId7"/>
    <p:sldId id="297" r:id="rId8"/>
    <p:sldId id="298" r:id="rId9"/>
    <p:sldId id="299" r:id="rId10"/>
    <p:sldId id="301" r:id="rId11"/>
    <p:sldId id="302" r:id="rId12"/>
    <p:sldId id="303" r:id="rId13"/>
    <p:sldId id="304" r:id="rId14"/>
    <p:sldId id="305" r:id="rId15"/>
    <p:sldId id="308" r:id="rId16"/>
    <p:sldId id="309" r:id="rId17"/>
    <p:sldId id="310" r:id="rId18"/>
    <p:sldId id="311" r:id="rId1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7" d="100"/>
          <a:sy n="87" d="100"/>
        </p:scale>
        <p:origin x="-84" y="-5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7122A06-5B0A-4346-97BE-767C52718168}" type="datetimeFigureOut">
              <a:rPr lang="ru-RU" smtClean="0"/>
              <a:pPr/>
              <a:t>07.11.2022</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122A06-5B0A-4346-97BE-767C52718168}" type="datetimeFigureOut">
              <a:rPr lang="ru-RU" smtClean="0"/>
              <a:pPr/>
              <a:t>07.11.2022</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22971-6BEF-4386-8415-603E6D58E8FA}"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pyml.ro/lectia-08-seturi-in-python-04.php"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28600" y="2971800"/>
            <a:ext cx="8686800" cy="2133600"/>
          </a:xfrm>
        </p:spPr>
        <p:txBody>
          <a:bodyPr>
            <a:noAutofit/>
          </a:bodyPr>
          <a:lstStyle/>
          <a:p>
            <a:r>
              <a:rPr lang="ro-RO" sz="4800" dirty="0" smtClean="0">
                <a:solidFill>
                  <a:schemeClr val="accent1">
                    <a:lumMod val="75000"/>
                  </a:schemeClr>
                </a:solidFill>
                <a:latin typeface="Times New Roman" pitchFamily="18" charset="0"/>
                <a:cs typeface="Times New Roman" pitchFamily="18" charset="0"/>
              </a:rPr>
              <a:t>DICȚIONARE în PYTHON</a:t>
            </a:r>
            <a:r>
              <a:rPr lang="ro-MO" sz="4800" dirty="0" smtClean="0"/>
              <a:t/>
            </a:r>
            <a:br>
              <a:rPr lang="ro-MO" sz="4800" dirty="0" smtClean="0"/>
            </a:br>
            <a:endParaRPr lang="ru-RU" sz="4800" dirty="0"/>
          </a:p>
        </p:txBody>
      </p:sp>
      <p:pic>
        <p:nvPicPr>
          <p:cNvPr id="4" name="Google Shape;56;p13"/>
          <p:cNvPicPr preferRelativeResize="0"/>
          <p:nvPr/>
        </p:nvPicPr>
        <p:blipFill>
          <a:blip r:embed="rId2" cstate="print">
            <a:alphaModFix/>
          </a:blip>
          <a:stretch>
            <a:fillRect/>
          </a:stretch>
        </p:blipFill>
        <p:spPr>
          <a:xfrm>
            <a:off x="7162800" y="152400"/>
            <a:ext cx="1747550" cy="1892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CE ESTE UN </a:t>
            </a:r>
            <a:r>
              <a:rPr lang="ro-RO" sz="3600" b="1" dirty="0" smtClean="0">
                <a:solidFill>
                  <a:schemeClr val="accent6">
                    <a:lumMod val="50000"/>
                  </a:schemeClr>
                </a:solidFill>
              </a:rPr>
              <a:t>DICȚIONAR</a:t>
            </a:r>
            <a:r>
              <a:rPr lang="en-US" sz="3600" b="1" dirty="0" smtClean="0">
                <a:solidFill>
                  <a:schemeClr val="accent6">
                    <a:lumMod val="50000"/>
                  </a:schemeClr>
                </a:solidFill>
              </a:rPr>
              <a:t>?</a:t>
            </a:r>
            <a:endParaRPr lang="en-US" sz="3600" b="1" dirty="0">
              <a:solidFill>
                <a:schemeClr val="accent6">
                  <a:lumMod val="50000"/>
                </a:schemeClr>
              </a:solidFill>
            </a:endParaRPr>
          </a:p>
        </p:txBody>
      </p:sp>
      <p:sp>
        <p:nvSpPr>
          <p:cNvPr id="5" name="TextBox 4"/>
          <p:cNvSpPr txBox="1"/>
          <p:nvPr/>
        </p:nvSpPr>
        <p:spPr>
          <a:xfrm>
            <a:off x="0" y="685800"/>
            <a:ext cx="9144000" cy="5632311"/>
          </a:xfrm>
          <a:prstGeom prst="rect">
            <a:avLst/>
          </a:prstGeom>
          <a:noFill/>
        </p:spPr>
        <p:txBody>
          <a:bodyPr wrap="square" rtlCol="0">
            <a:spAutoFit/>
          </a:bodyPr>
          <a:lstStyle/>
          <a:p>
            <a:pPr algn="just"/>
            <a:r>
              <a:rPr lang="ro-MO" dirty="0" smtClean="0"/>
              <a:t>	</a:t>
            </a:r>
          </a:p>
          <a:p>
            <a:pPr algn="just"/>
            <a:r>
              <a:rPr lang="ro-RO" dirty="0" smtClean="0"/>
              <a:t>	</a:t>
            </a:r>
            <a:r>
              <a:rPr lang="vi-VN" dirty="0" smtClean="0"/>
              <a:t>În Python un </a:t>
            </a:r>
            <a:r>
              <a:rPr lang="vi-VN" b="1" dirty="0" smtClean="0"/>
              <a:t>dicționar</a:t>
            </a:r>
            <a:r>
              <a:rPr lang="vi-VN" dirty="0" smtClean="0"/>
              <a:t> (tipul de date </a:t>
            </a:r>
            <a:r>
              <a:rPr lang="vi-VN" b="1" dirty="0" smtClean="0"/>
              <a:t>dict</a:t>
            </a:r>
            <a:r>
              <a:rPr lang="vi-VN" dirty="0" smtClean="0"/>
              <a:t>) este o colecție de date </a:t>
            </a:r>
            <a:r>
              <a:rPr lang="vi-VN" b="1" dirty="0" smtClean="0"/>
              <a:t>neordonată</a:t>
            </a:r>
            <a:r>
              <a:rPr lang="vi-VN" dirty="0" smtClean="0"/>
              <a:t>, </a:t>
            </a:r>
            <a:r>
              <a:rPr lang="vi-VN" b="1" dirty="0" smtClean="0"/>
              <a:t>indexată</a:t>
            </a:r>
            <a:r>
              <a:rPr lang="vi-VN" dirty="0" smtClean="0"/>
              <a:t> și </a:t>
            </a:r>
            <a:r>
              <a:rPr lang="vi-VN" b="1" dirty="0" smtClean="0"/>
              <a:t>modificabilă</a:t>
            </a:r>
            <a:r>
              <a:rPr lang="vi-VN" dirty="0" smtClean="0"/>
              <a:t>, care conține oricâte </a:t>
            </a:r>
            <a:r>
              <a:rPr lang="vi-VN" i="1" dirty="0" smtClean="0"/>
              <a:t>perechi de valori asociate cheie-valoare</a:t>
            </a:r>
            <a:r>
              <a:rPr lang="vi-VN" dirty="0" smtClean="0"/>
              <a:t> (evident, </a:t>
            </a:r>
            <a:r>
              <a:rPr lang="vi-VN" i="1" dirty="0" smtClean="0"/>
              <a:t>cheia este unică</a:t>
            </a:r>
            <a:r>
              <a:rPr lang="vi-VN" dirty="0" smtClean="0"/>
              <a:t>). </a:t>
            </a:r>
            <a:endParaRPr lang="ro-RO" dirty="0" smtClean="0"/>
          </a:p>
          <a:p>
            <a:pPr algn="just"/>
            <a:endParaRPr lang="ro-RO" dirty="0" smtClean="0"/>
          </a:p>
          <a:p>
            <a:pPr algn="just"/>
            <a:endParaRPr lang="ro-RO" dirty="0" smtClean="0"/>
          </a:p>
          <a:p>
            <a:pPr algn="just"/>
            <a:endParaRPr lang="ro-RO" dirty="0" smtClean="0"/>
          </a:p>
          <a:p>
            <a:pPr algn="just"/>
            <a:endParaRPr lang="ro-RO" dirty="0" smtClean="0"/>
          </a:p>
          <a:p>
            <a:pPr algn="just"/>
            <a:endParaRPr lang="ro-RO" dirty="0" smtClean="0"/>
          </a:p>
          <a:p>
            <a:pPr algn="just"/>
            <a:endParaRPr lang="ro-RO" dirty="0" smtClean="0"/>
          </a:p>
          <a:p>
            <a:pPr algn="just"/>
            <a:endParaRPr lang="ro-RO" dirty="0" smtClean="0"/>
          </a:p>
          <a:p>
            <a:pPr algn="just"/>
            <a:r>
              <a:rPr lang="ro-RO" dirty="0" smtClean="0"/>
              <a:t>	</a:t>
            </a:r>
            <a:r>
              <a:rPr lang="vi-VN" dirty="0" smtClean="0"/>
              <a:t>Pentru fiecare cuvânt cheie din stânga am asociat o valoare (un antonim) în dreapta. Folosim caracterul două puncte "</a:t>
            </a:r>
            <a:r>
              <a:rPr lang="vi-VN" b="1" dirty="0" smtClean="0"/>
              <a:t>:</a:t>
            </a:r>
            <a:r>
              <a:rPr lang="vi-VN" dirty="0" smtClean="0"/>
              <a:t>" pentru a efectua asocierea, iar pentru a delimita perechile, caracterul virgulă "</a:t>
            </a:r>
            <a:r>
              <a:rPr lang="vi-VN" b="1" dirty="0" smtClean="0"/>
              <a:t>,</a:t>
            </a:r>
            <a:r>
              <a:rPr lang="vi-VN" dirty="0" smtClean="0"/>
              <a:t>". Toate sunt scrise </a:t>
            </a:r>
            <a:r>
              <a:rPr lang="vi-VN" i="1" dirty="0" smtClean="0"/>
              <a:t>în interiorul a două acolade</a:t>
            </a:r>
            <a:r>
              <a:rPr lang="vi-VN" dirty="0" smtClean="0"/>
              <a:t>, similar unui set de date. </a:t>
            </a:r>
            <a:endParaRPr lang="ro-RO" dirty="0" smtClean="0"/>
          </a:p>
          <a:p>
            <a:pPr algn="just"/>
            <a:r>
              <a:rPr lang="ro-RO" dirty="0" smtClean="0"/>
              <a:t>	</a:t>
            </a:r>
            <a:r>
              <a:rPr lang="vi-VN" dirty="0" smtClean="0"/>
              <a:t>Lungimea dicționarului nu este 6, ci bineînțeles 3, adică numărul de cuvinte cheie (perechi) pe care le-am introdus. </a:t>
            </a:r>
            <a:endParaRPr lang="ro-RO" dirty="0" smtClean="0"/>
          </a:p>
          <a:p>
            <a:pPr algn="just"/>
            <a:r>
              <a:rPr lang="ro-RO" dirty="0" smtClean="0"/>
              <a:t>	</a:t>
            </a:r>
            <a:r>
              <a:rPr lang="vi-VN" dirty="0" smtClean="0"/>
              <a:t>Un dicționar </a:t>
            </a:r>
            <a:r>
              <a:rPr lang="vi-VN" b="1" dirty="0" smtClean="0"/>
              <a:t>nu este ordonat cu indecși propriu-ziși</a:t>
            </a:r>
            <a:r>
              <a:rPr lang="vi-VN" dirty="0" smtClean="0"/>
              <a:t>, ci accesul se face cu ajutorul cuvintelor cheie din perechi. Astfel, scriem </a:t>
            </a:r>
            <a:r>
              <a:rPr lang="vi-VN" b="1" dirty="0" smtClean="0"/>
              <a:t>antonime[‘</a:t>
            </a:r>
            <a:r>
              <a:rPr lang="ro-RO" b="1" dirty="0" smtClean="0"/>
              <a:t>Rău</a:t>
            </a:r>
            <a:r>
              <a:rPr lang="vi-VN" b="1" dirty="0" smtClean="0"/>
              <a:t>']</a:t>
            </a:r>
            <a:r>
              <a:rPr lang="vi-VN" dirty="0" smtClean="0"/>
              <a:t> pentru a obține valoarea ‘</a:t>
            </a:r>
            <a:r>
              <a:rPr lang="ro-RO" b="1" dirty="0" smtClean="0"/>
              <a:t>Bun</a:t>
            </a:r>
            <a:r>
              <a:rPr lang="vi-VN" dirty="0" smtClean="0"/>
              <a:t>'. </a:t>
            </a:r>
            <a:endParaRPr lang="ru-RU" dirty="0"/>
          </a:p>
        </p:txBody>
      </p:sp>
      <p:pic>
        <p:nvPicPr>
          <p:cNvPr id="1027" name="Picture 3"/>
          <p:cNvPicPr>
            <a:picLocks noChangeAspect="1" noChangeArrowheads="1"/>
          </p:cNvPicPr>
          <p:nvPr/>
        </p:nvPicPr>
        <p:blipFill>
          <a:blip r:embed="rId2" cstate="print"/>
          <a:srcRect/>
          <a:stretch>
            <a:fillRect/>
          </a:stretch>
        </p:blipFill>
        <p:spPr bwMode="auto">
          <a:xfrm>
            <a:off x="0" y="1905000"/>
            <a:ext cx="9099550" cy="15748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fontScale="90000"/>
          </a:bodyPr>
          <a:lstStyle/>
          <a:p>
            <a:r>
              <a:rPr lang="it-IT" sz="3600" b="1" dirty="0" smtClean="0">
                <a:solidFill>
                  <a:schemeClr val="accent6">
                    <a:lumMod val="50000"/>
                  </a:schemeClr>
                </a:solidFill>
              </a:rPr>
              <a:t>LISTE ȘI TUPLURI </a:t>
            </a:r>
            <a:r>
              <a:rPr lang="ro-RO" sz="3600" b="1" dirty="0" smtClean="0">
                <a:solidFill>
                  <a:schemeClr val="accent6">
                    <a:lumMod val="50000"/>
                  </a:schemeClr>
                </a:solidFill>
              </a:rPr>
              <a:t> </a:t>
            </a:r>
            <a:r>
              <a:rPr lang="it-IT" sz="3600" b="1" dirty="0" smtClean="0">
                <a:solidFill>
                  <a:schemeClr val="accent6">
                    <a:lumMod val="50000"/>
                  </a:schemeClr>
                </a:solidFill>
              </a:rPr>
              <a:t>LA CREAREA UNUI DICȚIONAR</a:t>
            </a:r>
            <a:endParaRPr lang="it-IT" sz="3600" b="1" dirty="0">
              <a:solidFill>
                <a:schemeClr val="accent6">
                  <a:lumMod val="50000"/>
                </a:schemeClr>
              </a:solidFill>
            </a:endParaRPr>
          </a:p>
        </p:txBody>
      </p:sp>
      <p:sp>
        <p:nvSpPr>
          <p:cNvPr id="5" name="TextBox 4"/>
          <p:cNvSpPr txBox="1"/>
          <p:nvPr/>
        </p:nvSpPr>
        <p:spPr>
          <a:xfrm>
            <a:off x="0" y="685800"/>
            <a:ext cx="9144000" cy="4001095"/>
          </a:xfrm>
          <a:prstGeom prst="rect">
            <a:avLst/>
          </a:prstGeom>
          <a:noFill/>
        </p:spPr>
        <p:txBody>
          <a:bodyPr wrap="square" rtlCol="0">
            <a:spAutoFit/>
          </a:bodyPr>
          <a:lstStyle/>
          <a:p>
            <a:pPr algn="just"/>
            <a:r>
              <a:rPr lang="ro-MO" dirty="0" smtClean="0"/>
              <a:t>	</a:t>
            </a:r>
          </a:p>
          <a:p>
            <a:pPr algn="just"/>
            <a:r>
              <a:rPr lang="ro-RO" dirty="0" smtClean="0"/>
              <a:t>	</a:t>
            </a:r>
          </a:p>
          <a:p>
            <a:pPr algn="just"/>
            <a:endParaRPr lang="ro-RO" dirty="0" smtClean="0"/>
          </a:p>
          <a:p>
            <a:pPr algn="just"/>
            <a:endParaRPr lang="ro-RO" dirty="0" smtClean="0"/>
          </a:p>
          <a:p>
            <a:pPr algn="just"/>
            <a:endParaRPr lang="ro-RO" dirty="0" smtClean="0"/>
          </a:p>
          <a:p>
            <a:pPr algn="just"/>
            <a:r>
              <a:rPr lang="ro-RO" dirty="0" smtClean="0"/>
              <a:t>	</a:t>
            </a:r>
            <a:r>
              <a:rPr lang="vi-VN" dirty="0" smtClean="0"/>
              <a:t> În acest caz, fiecare obiect al listei trimisă ca parametru conține un tuplu cu două elemente – cheia și valoarea asociată. </a:t>
            </a:r>
            <a:endParaRPr lang="ro-RO" dirty="0" smtClean="0"/>
          </a:p>
          <a:p>
            <a:pPr algn="just"/>
            <a:r>
              <a:rPr lang="ro-RO" dirty="0" smtClean="0"/>
              <a:t>	</a:t>
            </a:r>
            <a:r>
              <a:rPr lang="vi-VN" dirty="0" smtClean="0"/>
              <a:t>Observați că am apelat la funcția / constructorul </a:t>
            </a:r>
            <a:r>
              <a:rPr lang="vi-VN" b="1" dirty="0" smtClean="0"/>
              <a:t>dict()</a:t>
            </a:r>
            <a:r>
              <a:rPr lang="vi-VN" dirty="0" smtClean="0"/>
              <a:t> pentru a crea dicționarul - un fel de conversie explicită. Veți înțelege mai multe atunci când veți studia programarea pe obiecte. </a:t>
            </a:r>
            <a:endParaRPr lang="ro-RO" sz="2000" b="1" dirty="0" smtClean="0">
              <a:solidFill>
                <a:schemeClr val="accent6">
                  <a:lumMod val="50000"/>
                </a:schemeClr>
              </a:solidFill>
            </a:endParaRPr>
          </a:p>
          <a:p>
            <a:pPr algn="ctr"/>
            <a:r>
              <a:rPr lang="vi-VN" sz="2000" b="1" dirty="0" smtClean="0">
                <a:solidFill>
                  <a:schemeClr val="accent6">
                    <a:lumMod val="50000"/>
                  </a:schemeClr>
                </a:solidFill>
              </a:rPr>
              <a:t>ȘTERGEREA / GOLIREA UNUI DICȚIONAR</a:t>
            </a:r>
          </a:p>
          <a:p>
            <a:r>
              <a:rPr lang="vi-VN" dirty="0" smtClean="0"/>
              <a:t>Pentru a șterge un dicționar, folosim cuvântul cheie </a:t>
            </a:r>
            <a:r>
              <a:rPr lang="vi-VN" b="1" dirty="0" smtClean="0"/>
              <a:t>del</a:t>
            </a:r>
            <a:r>
              <a:rPr lang="vi-VN" dirty="0" smtClean="0"/>
              <a:t>, adică "</a:t>
            </a:r>
            <a:r>
              <a:rPr lang="vi-VN" b="1" dirty="0" smtClean="0"/>
              <a:t>del dict1</a:t>
            </a:r>
            <a:r>
              <a:rPr lang="vi-VN" dirty="0" smtClean="0"/>
              <a:t>", așa cum suntem obișnuiți. Dacă dorim să îl golim, apelăm iar la metoda </a:t>
            </a:r>
            <a:r>
              <a:rPr lang="vi-VN" b="1" dirty="0" smtClean="0"/>
              <a:t>clear()</a:t>
            </a:r>
            <a:r>
              <a:rPr lang="vi-VN" dirty="0" smtClean="0"/>
              <a:t>, mai exact scriem în exemplul nostru: "</a:t>
            </a:r>
            <a:r>
              <a:rPr lang="vi-VN" b="1" dirty="0" smtClean="0"/>
              <a:t>dict1.clear()</a:t>
            </a:r>
            <a:r>
              <a:rPr lang="vi-VN" dirty="0" smtClean="0"/>
              <a:t>".</a:t>
            </a:r>
            <a:endParaRPr lang="ru-RU" dirty="0"/>
          </a:p>
        </p:txBody>
      </p:sp>
      <p:pic>
        <p:nvPicPr>
          <p:cNvPr id="2050" name="Picture 2"/>
          <p:cNvPicPr>
            <a:picLocks noChangeAspect="1" noChangeArrowheads="1"/>
          </p:cNvPicPr>
          <p:nvPr/>
        </p:nvPicPr>
        <p:blipFill>
          <a:blip r:embed="rId2" cstate="print"/>
          <a:srcRect/>
          <a:stretch>
            <a:fillRect/>
          </a:stretch>
        </p:blipFill>
        <p:spPr bwMode="auto">
          <a:xfrm>
            <a:off x="50800" y="838200"/>
            <a:ext cx="9093200" cy="117475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1143000" y="5803900"/>
            <a:ext cx="6946900" cy="1054100"/>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0" y="4572000"/>
            <a:ext cx="8991600" cy="11430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200" b="1" dirty="0" smtClean="0">
                <a:solidFill>
                  <a:schemeClr val="accent6">
                    <a:lumMod val="50000"/>
                  </a:schemeClr>
                </a:solidFill>
              </a:rPr>
              <a:t>METODA GET()</a:t>
            </a:r>
            <a:endParaRPr lang="en-US" sz="3200" b="1" dirty="0">
              <a:solidFill>
                <a:schemeClr val="accent6">
                  <a:lumMod val="50000"/>
                </a:schemeClr>
              </a:solidFill>
            </a:endParaRPr>
          </a:p>
        </p:txBody>
      </p:sp>
      <p:sp>
        <p:nvSpPr>
          <p:cNvPr id="5" name="TextBox 4"/>
          <p:cNvSpPr txBox="1"/>
          <p:nvPr/>
        </p:nvSpPr>
        <p:spPr>
          <a:xfrm>
            <a:off x="0" y="685800"/>
            <a:ext cx="9144000" cy="1754326"/>
          </a:xfrm>
          <a:prstGeom prst="rect">
            <a:avLst/>
          </a:prstGeom>
          <a:noFill/>
        </p:spPr>
        <p:txBody>
          <a:bodyPr wrap="square" rtlCol="0">
            <a:spAutoFit/>
          </a:bodyPr>
          <a:lstStyle/>
          <a:p>
            <a:pPr algn="just"/>
            <a:r>
              <a:rPr lang="ro-MO" dirty="0" smtClean="0"/>
              <a:t>	</a:t>
            </a:r>
          </a:p>
          <a:p>
            <a:pPr algn="just"/>
            <a:r>
              <a:rPr lang="ro-RO" dirty="0" smtClean="0"/>
              <a:t>	</a:t>
            </a:r>
            <a:r>
              <a:rPr lang="vi-VN" dirty="0" smtClean="0"/>
              <a:t>Am precizat anterior faptul că putem accesa un element cu ajutorul unui cuvânt cheie folosind parantezele pătrate, însă </a:t>
            </a:r>
            <a:r>
              <a:rPr lang="vi-VN" i="1" dirty="0" smtClean="0"/>
              <a:t>dacă nu este găsit în dicționar</a:t>
            </a:r>
            <a:r>
              <a:rPr lang="vi-VN" dirty="0" smtClean="0"/>
              <a:t>, obținem </a:t>
            </a:r>
            <a:r>
              <a:rPr lang="vi-VN" i="1" dirty="0" smtClean="0"/>
              <a:t>o eroare ce ne blochează programul</a:t>
            </a:r>
            <a:r>
              <a:rPr lang="vi-VN" dirty="0" smtClean="0"/>
              <a:t>. </a:t>
            </a:r>
            <a:endParaRPr lang="ro-RO" dirty="0" smtClean="0"/>
          </a:p>
          <a:p>
            <a:pPr algn="just"/>
            <a:r>
              <a:rPr lang="ro-RO" dirty="0" smtClean="0"/>
              <a:t>	</a:t>
            </a:r>
            <a:r>
              <a:rPr lang="vi-VN" dirty="0" smtClean="0"/>
              <a:t>Folosim elegant metoda </a:t>
            </a:r>
            <a:r>
              <a:rPr lang="vi-VN" b="1" dirty="0" smtClean="0"/>
              <a:t>get()</a:t>
            </a:r>
            <a:r>
              <a:rPr lang="vi-VN" dirty="0" smtClean="0"/>
              <a:t> ce primește ca parametru un cuvânt cheie. Dacă există în dicționar este afișată valoarea asociată, iar dacă nu, cuvântul cheie </a:t>
            </a:r>
            <a:r>
              <a:rPr lang="vi-VN" b="1" dirty="0" smtClean="0"/>
              <a:t>None</a:t>
            </a:r>
            <a:r>
              <a:rPr lang="vi-VN" dirty="0" smtClean="0"/>
              <a:t>:</a:t>
            </a:r>
            <a:endParaRPr lang="ro-RO" sz="2000" b="1" dirty="0" smtClean="0">
              <a:solidFill>
                <a:schemeClr val="accent6">
                  <a:lumMod val="50000"/>
                </a:schemeClr>
              </a:solidFill>
            </a:endParaRPr>
          </a:p>
        </p:txBody>
      </p:sp>
      <p:pic>
        <p:nvPicPr>
          <p:cNvPr id="3074" name="Picture 2"/>
          <p:cNvPicPr>
            <a:picLocks noChangeAspect="1" noChangeArrowheads="1"/>
          </p:cNvPicPr>
          <p:nvPr/>
        </p:nvPicPr>
        <p:blipFill>
          <a:blip r:embed="rId2" cstate="print"/>
          <a:srcRect/>
          <a:stretch>
            <a:fillRect/>
          </a:stretch>
        </p:blipFill>
        <p:spPr bwMode="auto">
          <a:xfrm>
            <a:off x="236508" y="2743200"/>
            <a:ext cx="8526492" cy="22098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vi-VN" sz="2500" b="1" dirty="0" smtClean="0">
                <a:solidFill>
                  <a:schemeClr val="accent6">
                    <a:lumMod val="50000"/>
                  </a:schemeClr>
                </a:solidFill>
              </a:rPr>
              <a:t>MODIFICAREA ȘI ADĂUGAREA PERECHILOR DE DATE</a:t>
            </a:r>
            <a:endParaRPr lang="vi-VN" sz="2500" b="1" dirty="0">
              <a:solidFill>
                <a:schemeClr val="accent6">
                  <a:lumMod val="50000"/>
                </a:schemeClr>
              </a:solidFill>
            </a:endParaRPr>
          </a:p>
        </p:txBody>
      </p:sp>
      <p:sp>
        <p:nvSpPr>
          <p:cNvPr id="5" name="TextBox 4"/>
          <p:cNvSpPr txBox="1"/>
          <p:nvPr/>
        </p:nvSpPr>
        <p:spPr>
          <a:xfrm>
            <a:off x="0" y="685800"/>
            <a:ext cx="9144000" cy="923330"/>
          </a:xfrm>
          <a:prstGeom prst="rect">
            <a:avLst/>
          </a:prstGeom>
          <a:noFill/>
        </p:spPr>
        <p:txBody>
          <a:bodyPr wrap="square" rtlCol="0">
            <a:spAutoFit/>
          </a:bodyPr>
          <a:lstStyle/>
          <a:p>
            <a:pPr algn="just"/>
            <a:r>
              <a:rPr lang="ro-MO" dirty="0" smtClean="0"/>
              <a:t>	</a:t>
            </a:r>
          </a:p>
          <a:p>
            <a:pPr algn="just"/>
            <a:r>
              <a:rPr lang="ro-RO" dirty="0" smtClean="0"/>
              <a:t>	</a:t>
            </a:r>
            <a:r>
              <a:rPr lang="vi-VN" dirty="0" smtClean="0"/>
              <a:t> Pentru </a:t>
            </a:r>
            <a:r>
              <a:rPr lang="vi-VN" i="1" dirty="0" smtClean="0"/>
              <a:t>a modifica</a:t>
            </a:r>
            <a:r>
              <a:rPr lang="vi-VN" dirty="0" smtClean="0"/>
              <a:t> ori </a:t>
            </a:r>
            <a:r>
              <a:rPr lang="vi-VN" i="1" dirty="0" smtClean="0"/>
              <a:t>adăuga</a:t>
            </a:r>
            <a:r>
              <a:rPr lang="vi-VN" dirty="0" smtClean="0"/>
              <a:t> o pereche de date în dicționar, folosim atribuirea directă – structura este </a:t>
            </a:r>
            <a:r>
              <a:rPr lang="vi-VN" b="1" dirty="0" smtClean="0"/>
              <a:t>modificabilă</a:t>
            </a:r>
            <a:r>
              <a:rPr lang="vi-VN" dirty="0" smtClean="0"/>
              <a:t>: </a:t>
            </a:r>
            <a:endParaRPr lang="ro-RO" sz="2000" b="1" dirty="0" smtClean="0">
              <a:solidFill>
                <a:schemeClr val="accent6">
                  <a:lumMod val="50000"/>
                </a:schemeClr>
              </a:solidFill>
            </a:endParaRPr>
          </a:p>
        </p:txBody>
      </p:sp>
      <p:pic>
        <p:nvPicPr>
          <p:cNvPr id="4098" name="Picture 2"/>
          <p:cNvPicPr>
            <a:picLocks noChangeAspect="1" noChangeArrowheads="1"/>
          </p:cNvPicPr>
          <p:nvPr/>
        </p:nvPicPr>
        <p:blipFill>
          <a:blip r:embed="rId2" cstate="print"/>
          <a:srcRect/>
          <a:stretch>
            <a:fillRect/>
          </a:stretch>
        </p:blipFill>
        <p:spPr bwMode="auto">
          <a:xfrm>
            <a:off x="76200" y="1981200"/>
            <a:ext cx="8915400" cy="20574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en-US" sz="2800" b="1" dirty="0" smtClean="0">
                <a:solidFill>
                  <a:schemeClr val="accent6">
                    <a:lumMod val="50000"/>
                  </a:schemeClr>
                </a:solidFill>
              </a:rPr>
              <a:t>REVENIM LA FROZENSET... (OPȚIONAL)</a:t>
            </a:r>
            <a:endParaRPr lang="en-US" sz="2800" b="1" dirty="0">
              <a:solidFill>
                <a:schemeClr val="accent6">
                  <a:lumMod val="50000"/>
                </a:schemeClr>
              </a:solidFill>
            </a:endParaRPr>
          </a:p>
        </p:txBody>
      </p:sp>
      <p:sp>
        <p:nvSpPr>
          <p:cNvPr id="5" name="TextBox 4"/>
          <p:cNvSpPr txBox="1"/>
          <p:nvPr/>
        </p:nvSpPr>
        <p:spPr>
          <a:xfrm>
            <a:off x="0" y="685800"/>
            <a:ext cx="9144000" cy="2031325"/>
          </a:xfrm>
          <a:prstGeom prst="rect">
            <a:avLst/>
          </a:prstGeom>
          <a:noFill/>
        </p:spPr>
        <p:txBody>
          <a:bodyPr wrap="square" rtlCol="0">
            <a:spAutoFit/>
          </a:bodyPr>
          <a:lstStyle/>
          <a:p>
            <a:pPr algn="just"/>
            <a:r>
              <a:rPr lang="ro-MO" dirty="0" smtClean="0"/>
              <a:t>	</a:t>
            </a:r>
          </a:p>
          <a:p>
            <a:pPr algn="just"/>
            <a:r>
              <a:rPr lang="vi-VN" dirty="0" smtClean="0"/>
              <a:t>În lecția anterioară am prezentat tipul/clasa [</a:t>
            </a:r>
            <a:r>
              <a:rPr lang="vi-VN" dirty="0" smtClean="0">
                <a:hlinkClick r:id="rId2"/>
              </a:rPr>
              <a:t>frozenset</a:t>
            </a:r>
            <a:r>
              <a:rPr lang="vi-VN" dirty="0" smtClean="0"/>
              <a:t>], care ne permite </a:t>
            </a:r>
            <a:r>
              <a:rPr lang="vi-VN" i="1" dirty="0" smtClean="0"/>
              <a:t>să înghețăm un set cu valori unice</a:t>
            </a:r>
            <a:r>
              <a:rPr lang="vi-VN" dirty="0" smtClean="0"/>
              <a:t>. Cuvintele cheie dintr-un dicționar pot fi reținute de un </a:t>
            </a:r>
            <a:r>
              <a:rPr lang="vi-VN" b="1" dirty="0" smtClean="0"/>
              <a:t>frozenset</a:t>
            </a:r>
            <a:r>
              <a:rPr lang="vi-VN" dirty="0" smtClean="0"/>
              <a:t>. </a:t>
            </a:r>
            <a:br>
              <a:rPr lang="vi-VN" dirty="0" smtClean="0"/>
            </a:br>
            <a:r>
              <a:rPr lang="vi-VN" dirty="0" smtClean="0"/>
              <a:t/>
            </a:r>
            <a:br>
              <a:rPr lang="vi-VN" dirty="0" smtClean="0"/>
            </a:br>
            <a:r>
              <a:rPr lang="vi-VN" i="1" dirty="0" smtClean="0"/>
              <a:t>Exemplu.</a:t>
            </a:r>
            <a:r>
              <a:rPr lang="vi-VN" dirty="0" smtClean="0"/>
              <a:t> Presupunem că avem dicționarul de mai jos. Acesta conține </a:t>
            </a:r>
            <a:r>
              <a:rPr lang="vi-VN" b="1" dirty="0" smtClean="0"/>
              <a:t>5</a:t>
            </a:r>
            <a:r>
              <a:rPr lang="vi-VN" dirty="0" smtClean="0"/>
              <a:t> cuvinte cheie, cu care vom forma un </a:t>
            </a:r>
            <a:r>
              <a:rPr lang="vi-VN" b="1" dirty="0" smtClean="0"/>
              <a:t>frozenset</a:t>
            </a:r>
            <a:r>
              <a:rPr lang="vi-VN" dirty="0" smtClean="0"/>
              <a:t> reținut de variabila </a:t>
            </a:r>
            <a:r>
              <a:rPr lang="vi-VN" b="1" dirty="0" smtClean="0"/>
              <a:t>chei_antonime</a:t>
            </a:r>
            <a:r>
              <a:rPr lang="vi-VN" dirty="0" smtClean="0"/>
              <a:t>, prin apelul funcției constructor, care primește ca parametru dicționarul (conversie explicită): </a:t>
            </a:r>
            <a:endParaRPr lang="ro-RO" sz="2000" b="1" dirty="0" smtClean="0">
              <a:solidFill>
                <a:schemeClr val="accent6">
                  <a:lumMod val="50000"/>
                </a:schemeClr>
              </a:solidFill>
            </a:endParaRPr>
          </a:p>
        </p:txBody>
      </p:sp>
      <p:pic>
        <p:nvPicPr>
          <p:cNvPr id="5122" name="Picture 2"/>
          <p:cNvPicPr>
            <a:picLocks noChangeAspect="1" noChangeArrowheads="1"/>
          </p:cNvPicPr>
          <p:nvPr/>
        </p:nvPicPr>
        <p:blipFill>
          <a:blip r:embed="rId3" cstate="print"/>
          <a:srcRect/>
          <a:stretch>
            <a:fillRect/>
          </a:stretch>
        </p:blipFill>
        <p:spPr bwMode="auto">
          <a:xfrm>
            <a:off x="0" y="3124200"/>
            <a:ext cx="9144000" cy="14478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fontScale="90000"/>
          </a:bodyPr>
          <a:lstStyle/>
          <a:p>
            <a:r>
              <a:rPr lang="en-US" sz="2800" b="1" dirty="0" smtClean="0">
                <a:solidFill>
                  <a:schemeClr val="accent6">
                    <a:lumMod val="50000"/>
                  </a:schemeClr>
                </a:solidFill>
              </a:rPr>
              <a:t>EXERS</a:t>
            </a:r>
            <a:r>
              <a:rPr lang="ro-RO" sz="2800" b="1" dirty="0" smtClean="0">
                <a:solidFill>
                  <a:schemeClr val="accent6">
                    <a:lumMod val="50000"/>
                  </a:schemeClr>
                </a:solidFill>
              </a:rPr>
              <a:t>ĂM: </a:t>
            </a:r>
            <a:r>
              <a:rPr lang="vi-VN" sz="2800" b="1" dirty="0" smtClean="0">
                <a:solidFill>
                  <a:schemeClr val="accent6">
                    <a:lumMod val="50000"/>
                  </a:schemeClr>
                </a:solidFill>
              </a:rPr>
              <a:t>CUM SĂ CREEZI UN DICȚIONAR PYTHON</a:t>
            </a:r>
            <a:endParaRPr lang="vi-VN" sz="2800" b="1" dirty="0">
              <a:solidFill>
                <a:schemeClr val="accent6">
                  <a:lumMod val="50000"/>
                </a:schemeClr>
              </a:solidFill>
            </a:endParaRPr>
          </a:p>
        </p:txBody>
      </p:sp>
      <p:sp>
        <p:nvSpPr>
          <p:cNvPr id="5" name="TextBox 4"/>
          <p:cNvSpPr txBox="1"/>
          <p:nvPr/>
        </p:nvSpPr>
        <p:spPr>
          <a:xfrm>
            <a:off x="0" y="685800"/>
            <a:ext cx="9144000" cy="3631763"/>
          </a:xfrm>
          <a:prstGeom prst="rect">
            <a:avLst/>
          </a:prstGeom>
          <a:noFill/>
        </p:spPr>
        <p:txBody>
          <a:bodyPr wrap="square" rtlCol="0">
            <a:spAutoFit/>
          </a:bodyPr>
          <a:lstStyle/>
          <a:p>
            <a:pPr algn="just"/>
            <a:endParaRPr lang="ro-MO" dirty="0" smtClean="0"/>
          </a:p>
          <a:p>
            <a:pPr algn="just"/>
            <a:r>
              <a:rPr lang="en-US" dirty="0" smtClean="0"/>
              <a:t>	</a:t>
            </a:r>
            <a:r>
              <a:rPr lang="vi-VN" dirty="0" smtClean="0"/>
              <a:t>Primul pas e să alegi un nume pentru dicționar și să-l atribui unei variabile. În acest articol vom crea un dicționar numit „elephant” (elefant) și apoi trebuie să egalăm acest nume cu o pereche de acolade, care îi vor arăta lui Python că acesta va fi un dicționar.</a:t>
            </a:r>
            <a:endParaRPr lang="en-US" dirty="0" smtClean="0"/>
          </a:p>
          <a:p>
            <a:pPr algn="just"/>
            <a:r>
              <a:rPr lang="en-US" sz="2000" dirty="0" smtClean="0"/>
              <a:t>	</a:t>
            </a:r>
            <a:r>
              <a:rPr lang="vi-VN" sz="2000" dirty="0" smtClean="0"/>
              <a:t>Între acolade vom crea o pereche de elemente separate de două puncte, primul fiind cheia (key), iar al doilea e valoarea (value), astfel: „Key : Value”. În timp ce valorile pot fi orice tip de dată și permit dubluri, cheile sunt imuabile și nu pot fi duplicate. </a:t>
            </a:r>
          </a:p>
          <a:p>
            <a:pPr algn="just"/>
            <a:r>
              <a:rPr lang="en-US" sz="2000" dirty="0" smtClean="0"/>
              <a:t>	</a:t>
            </a:r>
            <a:r>
              <a:rPr lang="vi-VN" sz="2000" dirty="0" smtClean="0"/>
              <a:t>Dicționarul „elephant” poate fi creat precum mai jos, însă vom pune cheile și valorile pe linii diferite de dragul simplității și al lizibilității.</a:t>
            </a:r>
          </a:p>
          <a:p>
            <a:pPr algn="just"/>
            <a:endParaRPr lang="ro-RO" sz="2000" b="1" dirty="0" smtClean="0">
              <a:solidFill>
                <a:schemeClr val="accent6">
                  <a:lumMod val="50000"/>
                </a:schemeClr>
              </a:solidFill>
            </a:endParaRPr>
          </a:p>
        </p:txBody>
      </p:sp>
      <p:pic>
        <p:nvPicPr>
          <p:cNvPr id="6147" name="Picture 3"/>
          <p:cNvPicPr>
            <a:picLocks noChangeAspect="1" noChangeArrowheads="1"/>
          </p:cNvPicPr>
          <p:nvPr/>
        </p:nvPicPr>
        <p:blipFill>
          <a:blip r:embed="rId2" cstate="print"/>
          <a:srcRect/>
          <a:stretch>
            <a:fillRect/>
          </a:stretch>
        </p:blipFill>
        <p:spPr bwMode="auto">
          <a:xfrm>
            <a:off x="1066800" y="3937000"/>
            <a:ext cx="6864350" cy="1473200"/>
          </a:xfrm>
          <a:prstGeom prst="rect">
            <a:avLst/>
          </a:prstGeom>
          <a:noFill/>
          <a:ln w="9525">
            <a:noFill/>
            <a:miter lim="800000"/>
            <a:headEnd/>
            <a:tailEnd/>
          </a:ln>
        </p:spPr>
      </p:pic>
      <p:pic>
        <p:nvPicPr>
          <p:cNvPr id="6148" name="Picture 4"/>
          <p:cNvPicPr>
            <a:picLocks noChangeAspect="1" noChangeArrowheads="1"/>
          </p:cNvPicPr>
          <p:nvPr/>
        </p:nvPicPr>
        <p:blipFill>
          <a:blip r:embed="rId3" cstate="print"/>
          <a:srcRect/>
          <a:stretch>
            <a:fillRect/>
          </a:stretch>
        </p:blipFill>
        <p:spPr bwMode="auto">
          <a:xfrm>
            <a:off x="1371600" y="5410200"/>
            <a:ext cx="5905500" cy="1371388"/>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en-US" sz="2800" b="1" dirty="0" smtClean="0">
                <a:solidFill>
                  <a:schemeClr val="accent6">
                    <a:lumMod val="50000"/>
                  </a:schemeClr>
                </a:solidFill>
              </a:rPr>
              <a:t>EXERS</a:t>
            </a:r>
            <a:r>
              <a:rPr lang="ro-RO" sz="2800" b="1" dirty="0" smtClean="0">
                <a:solidFill>
                  <a:schemeClr val="accent6">
                    <a:lumMod val="50000"/>
                  </a:schemeClr>
                </a:solidFill>
              </a:rPr>
              <a:t>ĂM: </a:t>
            </a:r>
            <a:r>
              <a:rPr lang="it-IT" sz="2800" b="1" dirty="0" smtClean="0">
                <a:solidFill>
                  <a:schemeClr val="accent6">
                    <a:lumMod val="50000"/>
                  </a:schemeClr>
                </a:solidFill>
              </a:rPr>
              <a:t>CUM SĂ FACI REFERIRE LA O ANUMITĂ CHEIE</a:t>
            </a:r>
            <a:endParaRPr lang="it-IT" sz="2800" b="1" dirty="0">
              <a:solidFill>
                <a:schemeClr val="accent6">
                  <a:lumMod val="50000"/>
                </a:schemeClr>
              </a:solidFill>
            </a:endParaRPr>
          </a:p>
        </p:txBody>
      </p:sp>
      <p:sp>
        <p:nvSpPr>
          <p:cNvPr id="5" name="TextBox 4"/>
          <p:cNvSpPr txBox="1"/>
          <p:nvPr/>
        </p:nvSpPr>
        <p:spPr>
          <a:xfrm>
            <a:off x="0" y="685800"/>
            <a:ext cx="9144000" cy="1200329"/>
          </a:xfrm>
          <a:prstGeom prst="rect">
            <a:avLst/>
          </a:prstGeom>
          <a:noFill/>
        </p:spPr>
        <p:txBody>
          <a:bodyPr wrap="square" rtlCol="0">
            <a:spAutoFit/>
          </a:bodyPr>
          <a:lstStyle/>
          <a:p>
            <a:pPr algn="just"/>
            <a:endParaRPr lang="ro-MO" dirty="0" smtClean="0"/>
          </a:p>
          <a:p>
            <a:pPr algn="just"/>
            <a:r>
              <a:rPr lang="en-US" dirty="0" smtClean="0"/>
              <a:t>	</a:t>
            </a:r>
            <a:r>
              <a:rPr lang="vi-VN" dirty="0" smtClean="0"/>
              <a:t>Elementele dintr-un dicționar Python pot fi accesate dacă faci referire la ele cu ajutorul parantezelor pătrate. După aceea, putem afișa rezultatul folosind declarație print, precum mai jos:</a:t>
            </a:r>
            <a:endParaRPr lang="ro-RO" sz="2000" b="1" dirty="0" smtClean="0">
              <a:solidFill>
                <a:schemeClr val="accent6">
                  <a:lumMod val="50000"/>
                </a:schemeClr>
              </a:solidFill>
            </a:endParaRPr>
          </a:p>
        </p:txBody>
      </p:sp>
      <p:pic>
        <p:nvPicPr>
          <p:cNvPr id="7172" name="Picture 4"/>
          <p:cNvPicPr>
            <a:picLocks noChangeAspect="1" noChangeArrowheads="1"/>
          </p:cNvPicPr>
          <p:nvPr/>
        </p:nvPicPr>
        <p:blipFill>
          <a:blip r:embed="rId2" cstate="print"/>
          <a:srcRect/>
          <a:stretch>
            <a:fillRect/>
          </a:stretch>
        </p:blipFill>
        <p:spPr bwMode="auto">
          <a:xfrm>
            <a:off x="1828800" y="4191000"/>
            <a:ext cx="5926666" cy="1905000"/>
          </a:xfrm>
          <a:prstGeom prst="rect">
            <a:avLst/>
          </a:prstGeom>
          <a:noFill/>
          <a:ln w="9525">
            <a:noFill/>
            <a:miter lim="800000"/>
            <a:headEnd/>
            <a:tailEnd/>
          </a:ln>
        </p:spPr>
      </p:pic>
      <p:pic>
        <p:nvPicPr>
          <p:cNvPr id="7173" name="Picture 5"/>
          <p:cNvPicPr>
            <a:picLocks noChangeAspect="1" noChangeArrowheads="1"/>
          </p:cNvPicPr>
          <p:nvPr/>
        </p:nvPicPr>
        <p:blipFill>
          <a:blip r:embed="rId3" cstate="print"/>
          <a:srcRect/>
          <a:stretch>
            <a:fillRect/>
          </a:stretch>
        </p:blipFill>
        <p:spPr bwMode="auto">
          <a:xfrm>
            <a:off x="1295400" y="1981200"/>
            <a:ext cx="6711950" cy="219075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fontScale="90000"/>
          </a:bodyPr>
          <a:lstStyle/>
          <a:p>
            <a:r>
              <a:rPr lang="en-US" sz="2800" b="1" dirty="0" smtClean="0">
                <a:solidFill>
                  <a:schemeClr val="accent6">
                    <a:lumMod val="50000"/>
                  </a:schemeClr>
                </a:solidFill>
              </a:rPr>
              <a:t>EXERS</a:t>
            </a:r>
            <a:r>
              <a:rPr lang="ro-RO" sz="2800" b="1" dirty="0" smtClean="0">
                <a:solidFill>
                  <a:schemeClr val="accent6">
                    <a:lumMod val="50000"/>
                  </a:schemeClr>
                </a:solidFill>
              </a:rPr>
              <a:t>ĂM: </a:t>
            </a:r>
            <a:r>
              <a:rPr lang="vi-VN" sz="2800" b="1" dirty="0" smtClean="0">
                <a:solidFill>
                  <a:schemeClr val="accent6">
                    <a:lumMod val="50000"/>
                  </a:schemeClr>
                </a:solidFill>
              </a:rPr>
              <a:t>ȘTERGE ȘI ACTUALIZEAZĂ ELEMENTE ÎNTR-UN DICȚIONAR PYTHON</a:t>
            </a:r>
            <a:endParaRPr lang="vi-VN" sz="2800" b="1" dirty="0">
              <a:solidFill>
                <a:schemeClr val="accent6">
                  <a:lumMod val="50000"/>
                </a:schemeClr>
              </a:solidFill>
            </a:endParaRPr>
          </a:p>
        </p:txBody>
      </p:sp>
      <p:sp>
        <p:nvSpPr>
          <p:cNvPr id="5" name="TextBox 4"/>
          <p:cNvSpPr txBox="1"/>
          <p:nvPr/>
        </p:nvSpPr>
        <p:spPr>
          <a:xfrm>
            <a:off x="0" y="685800"/>
            <a:ext cx="9144000" cy="3447098"/>
          </a:xfrm>
          <a:prstGeom prst="rect">
            <a:avLst/>
          </a:prstGeom>
          <a:noFill/>
        </p:spPr>
        <p:txBody>
          <a:bodyPr wrap="square" rtlCol="0">
            <a:spAutoFit/>
          </a:bodyPr>
          <a:lstStyle/>
          <a:p>
            <a:pPr algn="just"/>
            <a:endParaRPr lang="ro-MO" dirty="0" smtClean="0"/>
          </a:p>
          <a:p>
            <a:pPr algn="just"/>
            <a:r>
              <a:rPr lang="en-US" dirty="0" smtClean="0"/>
              <a:t>	</a:t>
            </a:r>
            <a:r>
              <a:rPr lang="vi-VN" dirty="0" smtClean="0"/>
              <a:t>Dar dacă vrem să ștergem o cheie sau o valoare dintr-un dicționar Python? Putem face asta ușor scriind „del” de la delete (ștergere) și apoi să apelăm dicționarul din care vrem să ștergem valoarea, apoi paranteze drepte, apoi cheia pe care vrem să o ștergem. </a:t>
            </a:r>
          </a:p>
          <a:p>
            <a:pPr algn="just"/>
            <a:r>
              <a:rPr lang="vi-VN" dirty="0" smtClean="0"/>
              <a:t> Vom afișa tot dicționarul înainte, iar apoi vom vedea ce a fost șters din dicționar. Să zicem că vrem să ștergem cheia „</a:t>
            </a:r>
            <a:r>
              <a:rPr lang="ro-RO" dirty="0" smtClean="0"/>
              <a:t>Varsta</a:t>
            </a:r>
            <a:r>
              <a:rPr lang="vi-VN" dirty="0" smtClean="0"/>
              <a:t>” și valoarea sa respectivă. Putem face asta scriind del elephant[‘</a:t>
            </a:r>
            <a:r>
              <a:rPr lang="ro-RO" dirty="0" smtClean="0"/>
              <a:t>Varsta</a:t>
            </a:r>
            <a:r>
              <a:rPr lang="vi-VN" dirty="0" smtClean="0"/>
              <a:t>’]. Dacă afișăm dicționarul acum, vom vedea că a fost ștearsă.</a:t>
            </a:r>
          </a:p>
          <a:p>
            <a:pPr algn="just"/>
            <a:r>
              <a:rPr lang="vi-VN" dirty="0" smtClean="0"/>
              <a:t>Putem și să adăugăm elemente la un dicționar deja existent folosind metoda încorporată „.update()”. Asta poate fi făcut ușor rulând codul elephant.update() și folosind perechea “Key:Value” pe care vrem să o actualizăm, precum mai jos:</a:t>
            </a:r>
          </a:p>
          <a:p>
            <a:pPr algn="just"/>
            <a:endParaRPr lang="ro-RO" sz="2000" b="1" dirty="0" smtClean="0">
              <a:solidFill>
                <a:schemeClr val="accent6">
                  <a:lumMod val="50000"/>
                </a:schemeClr>
              </a:solidFill>
            </a:endParaRPr>
          </a:p>
        </p:txBody>
      </p:sp>
      <p:pic>
        <p:nvPicPr>
          <p:cNvPr id="8194" name="Picture 2"/>
          <p:cNvPicPr>
            <a:picLocks noChangeAspect="1" noChangeArrowheads="1"/>
          </p:cNvPicPr>
          <p:nvPr/>
        </p:nvPicPr>
        <p:blipFill>
          <a:blip r:embed="rId2" cstate="print"/>
          <a:srcRect/>
          <a:stretch>
            <a:fillRect/>
          </a:stretch>
        </p:blipFill>
        <p:spPr bwMode="auto">
          <a:xfrm>
            <a:off x="0" y="3810000"/>
            <a:ext cx="6648450" cy="2324100"/>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3505200" y="5979065"/>
            <a:ext cx="5638800" cy="87893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en-US" sz="3200" b="1" dirty="0" smtClean="0">
                <a:solidFill>
                  <a:schemeClr val="accent6">
                    <a:lumMod val="50000"/>
                  </a:schemeClr>
                </a:solidFill>
              </a:rPr>
              <a:t>EXERS</a:t>
            </a:r>
            <a:r>
              <a:rPr lang="ro-RO" sz="3200" b="1" dirty="0" smtClean="0">
                <a:solidFill>
                  <a:schemeClr val="accent6">
                    <a:lumMod val="50000"/>
                  </a:schemeClr>
                </a:solidFill>
              </a:rPr>
              <a:t>ĂM: </a:t>
            </a:r>
            <a:r>
              <a:rPr lang="it-IT" sz="3000" b="1" dirty="0" smtClean="0">
                <a:solidFill>
                  <a:schemeClr val="accent6">
                    <a:lumMod val="50000"/>
                  </a:schemeClr>
                </a:solidFill>
              </a:rPr>
              <a:t>CREAREA UNEI LISTE DE DICȚIONARE</a:t>
            </a:r>
            <a:endParaRPr lang="it-IT" sz="3000" b="1" dirty="0">
              <a:solidFill>
                <a:schemeClr val="accent6">
                  <a:lumMod val="50000"/>
                </a:schemeClr>
              </a:solidFill>
            </a:endParaRPr>
          </a:p>
        </p:txBody>
      </p:sp>
      <p:sp>
        <p:nvSpPr>
          <p:cNvPr id="5" name="TextBox 4"/>
          <p:cNvSpPr txBox="1"/>
          <p:nvPr/>
        </p:nvSpPr>
        <p:spPr>
          <a:xfrm>
            <a:off x="0" y="685800"/>
            <a:ext cx="9144000" cy="2062103"/>
          </a:xfrm>
          <a:prstGeom prst="rect">
            <a:avLst/>
          </a:prstGeom>
          <a:noFill/>
        </p:spPr>
        <p:txBody>
          <a:bodyPr wrap="square" rtlCol="0">
            <a:spAutoFit/>
          </a:bodyPr>
          <a:lstStyle/>
          <a:p>
            <a:pPr algn="just"/>
            <a:r>
              <a:rPr lang="en-US" dirty="0" smtClean="0"/>
              <a:t>	</a:t>
            </a:r>
            <a:r>
              <a:rPr lang="vi-VN" dirty="0" smtClean="0"/>
              <a:t>În lumea reală a programării te vei întâlni des cu liste de dicționare. Deși par mai complexe, sunt de fapt destul de simple. Folosind dicționarele preexistente, hai să mai adăugăm un elefant</a:t>
            </a:r>
            <a:r>
              <a:rPr lang="en-US" dirty="0" smtClean="0"/>
              <a:t>.</a:t>
            </a:r>
            <a:endParaRPr lang="vi-VN" dirty="0" smtClean="0"/>
          </a:p>
          <a:p>
            <a:pPr algn="just"/>
            <a:r>
              <a:rPr lang="en-US" dirty="0" smtClean="0"/>
              <a:t>	</a:t>
            </a:r>
            <a:r>
              <a:rPr lang="vi-VN" dirty="0" smtClean="0"/>
              <a:t>Pentru a afișa elementele e puțin diferit, dar trebuie să folosești două perechi de paranteze drepte, prima definind dicționarul în care trebuie să cauți informația, în timp ce a doua face referire la cheia specifică din acel dicționar, precum mai jos:</a:t>
            </a:r>
          </a:p>
          <a:p>
            <a:pPr algn="just"/>
            <a:endParaRPr lang="ro-RO" sz="2000" b="1" dirty="0" smtClean="0">
              <a:solidFill>
                <a:schemeClr val="accent6">
                  <a:lumMod val="50000"/>
                </a:schemeClr>
              </a:solidFill>
            </a:endParaRPr>
          </a:p>
        </p:txBody>
      </p:sp>
      <p:pic>
        <p:nvPicPr>
          <p:cNvPr id="9218" name="Picture 2"/>
          <p:cNvPicPr>
            <a:picLocks noChangeAspect="1" noChangeArrowheads="1"/>
          </p:cNvPicPr>
          <p:nvPr/>
        </p:nvPicPr>
        <p:blipFill>
          <a:blip r:embed="rId2" cstate="print"/>
          <a:srcRect/>
          <a:stretch>
            <a:fillRect/>
          </a:stretch>
        </p:blipFill>
        <p:spPr bwMode="auto">
          <a:xfrm>
            <a:off x="304800" y="2743200"/>
            <a:ext cx="8597986" cy="30480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en-US" sz="3200" b="1" dirty="0" smtClean="0">
                <a:solidFill>
                  <a:schemeClr val="accent6">
                    <a:lumMod val="50000"/>
                  </a:schemeClr>
                </a:solidFill>
              </a:rPr>
              <a:t>FUNCȚII UTILE ȊN LUCRUL CU DICȚIONARE</a:t>
            </a:r>
            <a:endParaRPr lang="en-US" sz="3200" b="1" dirty="0">
              <a:solidFill>
                <a:schemeClr val="accent6">
                  <a:lumMod val="50000"/>
                </a:schemeClr>
              </a:solidFill>
            </a:endParaRPr>
          </a:p>
        </p:txBody>
      </p:sp>
      <p:sp>
        <p:nvSpPr>
          <p:cNvPr id="5" name="TextBox 4"/>
          <p:cNvSpPr txBox="1"/>
          <p:nvPr/>
        </p:nvSpPr>
        <p:spPr>
          <a:xfrm>
            <a:off x="0" y="685800"/>
            <a:ext cx="9144000" cy="4462760"/>
          </a:xfrm>
          <a:prstGeom prst="rect">
            <a:avLst/>
          </a:prstGeom>
          <a:noFill/>
        </p:spPr>
        <p:txBody>
          <a:bodyPr wrap="square" rtlCol="0">
            <a:spAutoFit/>
          </a:bodyPr>
          <a:lstStyle/>
          <a:p>
            <a:endParaRPr lang="ro-RO" sz="2200" b="1" dirty="0" smtClean="0"/>
          </a:p>
          <a:p>
            <a:endParaRPr lang="ro-RO" sz="2200" b="1" dirty="0" smtClean="0"/>
          </a:p>
          <a:p>
            <a:endParaRPr lang="ro-RO" sz="2200" b="1" dirty="0" smtClean="0"/>
          </a:p>
          <a:p>
            <a:r>
              <a:rPr lang="ro-RO" sz="2200" b="1" dirty="0" smtClean="0"/>
              <a:t>c</a:t>
            </a:r>
            <a:r>
              <a:rPr lang="en-US" sz="2200" b="1" dirty="0" smtClean="0"/>
              <a:t>mp(</a:t>
            </a:r>
            <a:r>
              <a:rPr lang="en-US" sz="2200" b="1" dirty="0" err="1" smtClean="0"/>
              <a:t>dictionarUnu</a:t>
            </a:r>
            <a:r>
              <a:rPr lang="en-US" sz="2200" b="1" dirty="0" smtClean="0"/>
              <a:t>, </a:t>
            </a:r>
            <a:r>
              <a:rPr lang="en-US" sz="2200" b="1" dirty="0" err="1" smtClean="0"/>
              <a:t>dictionarDoi</a:t>
            </a:r>
            <a:r>
              <a:rPr lang="en-US" sz="2200" b="1" dirty="0" smtClean="0"/>
              <a:t>) </a:t>
            </a:r>
            <a:endParaRPr lang="ro-RO" sz="2200" b="1" dirty="0" smtClean="0"/>
          </a:p>
          <a:p>
            <a:r>
              <a:rPr lang="ro-RO" sz="2200" dirty="0" smtClean="0"/>
              <a:t>		</a:t>
            </a:r>
            <a:r>
              <a:rPr lang="en-US" sz="2200" dirty="0" smtClean="0"/>
              <a:t>→ </a:t>
            </a:r>
            <a:r>
              <a:rPr lang="en-US" sz="2200" dirty="0" err="1" smtClean="0"/>
              <a:t>Compar</a:t>
            </a:r>
            <a:r>
              <a:rPr lang="ru-RU" sz="2200" dirty="0" err="1" smtClean="0"/>
              <a:t>ӑ</a:t>
            </a:r>
            <a:r>
              <a:rPr lang="ru-RU" sz="2200" dirty="0" smtClean="0"/>
              <a:t> </a:t>
            </a:r>
            <a:r>
              <a:rPr lang="en-US" sz="2200" dirty="0" err="1" smtClean="0"/>
              <a:t>elementele</a:t>
            </a:r>
            <a:r>
              <a:rPr lang="en-US" sz="2200" dirty="0" smtClean="0"/>
              <a:t> </a:t>
            </a:r>
            <a:r>
              <a:rPr lang="en-US" sz="2200" dirty="0" err="1" smtClean="0"/>
              <a:t>celor</a:t>
            </a:r>
            <a:r>
              <a:rPr lang="en-US" sz="2200" dirty="0" smtClean="0"/>
              <a:t> </a:t>
            </a:r>
            <a:r>
              <a:rPr lang="en-US" sz="2200" dirty="0" err="1" smtClean="0"/>
              <a:t>dou</a:t>
            </a:r>
            <a:r>
              <a:rPr lang="ru-RU" sz="2200" dirty="0" err="1" smtClean="0"/>
              <a:t>ӑ</a:t>
            </a:r>
            <a:r>
              <a:rPr lang="ru-RU" sz="2200" dirty="0" smtClean="0"/>
              <a:t> </a:t>
            </a:r>
            <a:r>
              <a:rPr lang="en-US" sz="2200" dirty="0" err="1" smtClean="0"/>
              <a:t>dicționare</a:t>
            </a:r>
            <a:r>
              <a:rPr lang="en-US" sz="2200" dirty="0" smtClean="0"/>
              <a:t>.</a:t>
            </a:r>
            <a:endParaRPr lang="ro-RO" sz="2200" dirty="0" smtClean="0"/>
          </a:p>
          <a:p>
            <a:endParaRPr lang="en-US" sz="2200" dirty="0" smtClean="0"/>
          </a:p>
          <a:p>
            <a:r>
              <a:rPr lang="en-US" sz="2200" b="1" dirty="0" err="1" smtClean="0"/>
              <a:t>len</a:t>
            </a:r>
            <a:r>
              <a:rPr lang="en-US" sz="2200" b="1" dirty="0" smtClean="0"/>
              <a:t>(</a:t>
            </a:r>
            <a:r>
              <a:rPr lang="en-US" sz="2200" b="1" dirty="0" err="1" smtClean="0"/>
              <a:t>numeDictionar</a:t>
            </a:r>
            <a:r>
              <a:rPr lang="en-US" sz="2200" b="1" dirty="0" smtClean="0"/>
              <a:t>) </a:t>
            </a:r>
            <a:endParaRPr lang="ro-RO" sz="2200" b="1" dirty="0" smtClean="0"/>
          </a:p>
          <a:p>
            <a:pPr lvl="4"/>
            <a:r>
              <a:rPr lang="en-US" sz="2200" dirty="0" smtClean="0"/>
              <a:t>→ </a:t>
            </a:r>
            <a:r>
              <a:rPr lang="en-US" sz="2200" dirty="0" err="1" smtClean="0"/>
              <a:t>Returneaz</a:t>
            </a:r>
            <a:r>
              <a:rPr lang="ru-RU" sz="2200" dirty="0" err="1" smtClean="0"/>
              <a:t>ӑ</a:t>
            </a:r>
            <a:r>
              <a:rPr lang="ru-RU" sz="2200" dirty="0" smtClean="0"/>
              <a:t> </a:t>
            </a:r>
            <a:r>
              <a:rPr lang="en-US" sz="2200" dirty="0" err="1" smtClean="0"/>
              <a:t>lungimea</a:t>
            </a:r>
            <a:r>
              <a:rPr lang="en-US" sz="2200" dirty="0" smtClean="0"/>
              <a:t> </a:t>
            </a:r>
            <a:r>
              <a:rPr lang="en-US" sz="2200" dirty="0" err="1" smtClean="0"/>
              <a:t>dicționarului</a:t>
            </a:r>
            <a:r>
              <a:rPr lang="en-US" sz="2200" dirty="0" smtClean="0"/>
              <a:t>/ num</a:t>
            </a:r>
            <a:r>
              <a:rPr lang="ru-RU" sz="2200" dirty="0" err="1" smtClean="0"/>
              <a:t>ӑ</a:t>
            </a:r>
            <a:r>
              <a:rPr lang="en-US" sz="2200" dirty="0" err="1" smtClean="0"/>
              <a:t>rul</a:t>
            </a:r>
            <a:r>
              <a:rPr lang="en-US" sz="2200" dirty="0" smtClean="0"/>
              <a:t> de </a:t>
            </a:r>
            <a:r>
              <a:rPr lang="en-US" sz="2200" dirty="0" err="1" smtClean="0"/>
              <a:t>elemente</a:t>
            </a:r>
            <a:r>
              <a:rPr lang="en-US" sz="2200" dirty="0" smtClean="0"/>
              <a:t> din </a:t>
            </a:r>
            <a:r>
              <a:rPr lang="en-US" sz="2200" dirty="0" err="1" smtClean="0"/>
              <a:t>dicționar</a:t>
            </a:r>
            <a:r>
              <a:rPr lang="en-US" sz="2200" dirty="0" smtClean="0"/>
              <a:t>.</a:t>
            </a:r>
            <a:endParaRPr lang="ro-RO" sz="2200" dirty="0" smtClean="0"/>
          </a:p>
          <a:p>
            <a:endParaRPr lang="en-US" sz="2200" dirty="0" smtClean="0"/>
          </a:p>
          <a:p>
            <a:r>
              <a:rPr lang="en-US" sz="2200" b="1" dirty="0" err="1" smtClean="0"/>
              <a:t>str</a:t>
            </a:r>
            <a:r>
              <a:rPr lang="en-US" sz="2200" b="1" dirty="0" smtClean="0"/>
              <a:t>(</a:t>
            </a:r>
            <a:r>
              <a:rPr lang="en-US" sz="2200" b="1" dirty="0" err="1" smtClean="0"/>
              <a:t>numeDictionar</a:t>
            </a:r>
            <a:r>
              <a:rPr lang="en-US" sz="2200" b="1" dirty="0" smtClean="0"/>
              <a:t>) </a:t>
            </a:r>
            <a:endParaRPr lang="ro-RO" sz="2200" b="1" dirty="0" smtClean="0"/>
          </a:p>
          <a:p>
            <a:r>
              <a:rPr lang="ro-RO" sz="2200" dirty="0" smtClean="0"/>
              <a:t>		</a:t>
            </a:r>
            <a:r>
              <a:rPr lang="en-US" sz="2200" dirty="0" smtClean="0"/>
              <a:t>→ Produce o </a:t>
            </a:r>
            <a:r>
              <a:rPr lang="en-US" sz="2200" dirty="0" err="1" smtClean="0"/>
              <a:t>versiune</a:t>
            </a:r>
            <a:r>
              <a:rPr lang="en-US" sz="2200" dirty="0" smtClean="0"/>
              <a:t> </a:t>
            </a:r>
            <a:r>
              <a:rPr lang="en-US" sz="2200" dirty="0" err="1" smtClean="0"/>
              <a:t>afișabil</a:t>
            </a:r>
            <a:r>
              <a:rPr lang="ru-RU" sz="2200" dirty="0" err="1" smtClean="0"/>
              <a:t>ӑ</a:t>
            </a:r>
            <a:r>
              <a:rPr lang="ru-RU" sz="2200" dirty="0" smtClean="0"/>
              <a:t> </a:t>
            </a:r>
            <a:r>
              <a:rPr lang="en-US" sz="2200" dirty="0" smtClean="0"/>
              <a:t>a </a:t>
            </a:r>
            <a:r>
              <a:rPr lang="en-US" sz="2200" dirty="0" err="1" smtClean="0"/>
              <a:t>dicționarului</a:t>
            </a:r>
            <a:endParaRPr lang="en-US" sz="2200" dirty="0" smtClean="0"/>
          </a:p>
          <a:p>
            <a:pPr algn="just"/>
            <a:endParaRPr lang="ro-RO" sz="2000" b="1" dirty="0" smtClean="0">
              <a:solidFill>
                <a:schemeClr val="accent6">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it-IT" sz="3200" b="1" dirty="0" smtClean="0">
                <a:solidFill>
                  <a:schemeClr val="accent6">
                    <a:lumMod val="50000"/>
                  </a:schemeClr>
                </a:solidFill>
              </a:rPr>
              <a:t>METODE UTILE ȊN LUCRUL CU DICȚIONARE</a:t>
            </a:r>
            <a:endParaRPr lang="it-IT" sz="3200" b="1" dirty="0">
              <a:solidFill>
                <a:schemeClr val="accent6">
                  <a:lumMod val="50000"/>
                </a:schemeClr>
              </a:solidFill>
            </a:endParaRPr>
          </a:p>
        </p:txBody>
      </p:sp>
      <p:sp>
        <p:nvSpPr>
          <p:cNvPr id="5" name="TextBox 4"/>
          <p:cNvSpPr txBox="1"/>
          <p:nvPr/>
        </p:nvSpPr>
        <p:spPr>
          <a:xfrm>
            <a:off x="0" y="685800"/>
            <a:ext cx="9144000" cy="6186309"/>
          </a:xfrm>
          <a:prstGeom prst="rect">
            <a:avLst/>
          </a:prstGeom>
          <a:noFill/>
        </p:spPr>
        <p:txBody>
          <a:bodyPr wrap="square" rtlCol="0">
            <a:spAutoFit/>
          </a:bodyPr>
          <a:lstStyle/>
          <a:p>
            <a:pPr>
              <a:buFont typeface="Wingdings" pitchFamily="2" charset="2"/>
              <a:buChar char="q"/>
            </a:pPr>
            <a:r>
              <a:rPr lang="en-US" sz="2200" b="1" dirty="0" err="1" smtClean="0"/>
              <a:t>numeDictionar.clear</a:t>
            </a:r>
            <a:r>
              <a:rPr lang="en-US" sz="2200" b="1" dirty="0" smtClean="0"/>
              <a:t>() </a:t>
            </a:r>
            <a:r>
              <a:rPr lang="en-US" sz="2200" dirty="0" smtClean="0"/>
              <a:t>→ </a:t>
            </a:r>
            <a:r>
              <a:rPr lang="en-US" sz="2200" dirty="0" err="1" smtClean="0"/>
              <a:t>Elimin</a:t>
            </a:r>
            <a:r>
              <a:rPr lang="ru-RU" sz="2200" dirty="0" err="1" smtClean="0"/>
              <a:t>ӑ</a:t>
            </a:r>
            <a:r>
              <a:rPr lang="ru-RU" sz="2200" dirty="0" smtClean="0"/>
              <a:t> </a:t>
            </a:r>
            <a:r>
              <a:rPr lang="en-US" sz="2200" dirty="0" err="1" smtClean="0"/>
              <a:t>toate</a:t>
            </a:r>
            <a:r>
              <a:rPr lang="en-US" sz="2200" dirty="0" smtClean="0"/>
              <a:t> </a:t>
            </a:r>
            <a:r>
              <a:rPr lang="en-US" sz="2200" dirty="0" err="1" smtClean="0"/>
              <a:t>elementele</a:t>
            </a:r>
            <a:r>
              <a:rPr lang="en-US" sz="2200" dirty="0" smtClean="0"/>
              <a:t> din </a:t>
            </a:r>
            <a:r>
              <a:rPr lang="en-US" sz="2200" dirty="0" err="1" smtClean="0"/>
              <a:t>dicționar</a:t>
            </a:r>
            <a:endParaRPr lang="en-US" sz="2200" dirty="0" smtClean="0"/>
          </a:p>
          <a:p>
            <a:pPr>
              <a:buFont typeface="Wingdings" pitchFamily="2" charset="2"/>
              <a:buChar char="q"/>
            </a:pPr>
            <a:r>
              <a:rPr lang="en-US" sz="2200" b="1" dirty="0" err="1" smtClean="0"/>
              <a:t>numeDictionar.copy</a:t>
            </a:r>
            <a:r>
              <a:rPr lang="en-US" sz="2200" b="1" dirty="0" smtClean="0"/>
              <a:t>() </a:t>
            </a:r>
            <a:r>
              <a:rPr lang="en-US" sz="2200" dirty="0" smtClean="0"/>
              <a:t>→ </a:t>
            </a:r>
            <a:r>
              <a:rPr lang="en-US" sz="2200" dirty="0" err="1" smtClean="0"/>
              <a:t>Returneaz</a:t>
            </a:r>
            <a:r>
              <a:rPr lang="ru-RU" sz="2200" dirty="0" err="1" smtClean="0"/>
              <a:t>ӑ</a:t>
            </a:r>
            <a:r>
              <a:rPr lang="ru-RU" sz="2200" dirty="0" smtClean="0"/>
              <a:t> </a:t>
            </a:r>
            <a:r>
              <a:rPr lang="en-US" sz="2200" dirty="0" smtClean="0"/>
              <a:t>o </a:t>
            </a:r>
            <a:r>
              <a:rPr lang="en-US" sz="2200" dirty="0" err="1" smtClean="0"/>
              <a:t>copie</a:t>
            </a:r>
            <a:r>
              <a:rPr lang="en-US" sz="2200" dirty="0" smtClean="0"/>
              <a:t> a </a:t>
            </a:r>
            <a:r>
              <a:rPr lang="en-US" sz="2200" dirty="0" err="1" smtClean="0"/>
              <a:t>dicționarului</a:t>
            </a:r>
            <a:endParaRPr lang="en-US" sz="2200" dirty="0" smtClean="0"/>
          </a:p>
          <a:p>
            <a:pPr>
              <a:buFont typeface="Wingdings" pitchFamily="2" charset="2"/>
              <a:buChar char="q"/>
            </a:pPr>
            <a:r>
              <a:rPr lang="en-US" sz="2200" b="1" dirty="0" err="1" smtClean="0"/>
              <a:t>numeDictionar.get</a:t>
            </a:r>
            <a:r>
              <a:rPr lang="en-US" sz="2200" b="1" dirty="0" smtClean="0"/>
              <a:t>(</a:t>
            </a:r>
            <a:r>
              <a:rPr lang="en-US" sz="2200" b="1" dirty="0" err="1" smtClean="0"/>
              <a:t>cheie</a:t>
            </a:r>
            <a:r>
              <a:rPr lang="en-US" sz="2200" b="1" dirty="0" smtClean="0"/>
              <a:t>, default=None) </a:t>
            </a:r>
            <a:r>
              <a:rPr lang="en-US" sz="2200" dirty="0" smtClean="0"/>
              <a:t>→ </a:t>
            </a:r>
            <a:r>
              <a:rPr lang="en-US" sz="2200" dirty="0" err="1" smtClean="0"/>
              <a:t>Returneaz</a:t>
            </a:r>
            <a:r>
              <a:rPr lang="ru-RU" sz="2200" dirty="0" err="1" smtClean="0"/>
              <a:t>ӑ</a:t>
            </a:r>
            <a:r>
              <a:rPr lang="ru-RU" sz="2200" dirty="0" smtClean="0"/>
              <a:t> </a:t>
            </a:r>
            <a:r>
              <a:rPr lang="en-US" sz="2200" dirty="0" err="1" smtClean="0"/>
              <a:t>valoarea</a:t>
            </a:r>
            <a:r>
              <a:rPr lang="en-US" sz="2200" dirty="0" smtClean="0"/>
              <a:t> </a:t>
            </a:r>
            <a:r>
              <a:rPr lang="en-US" sz="2200" dirty="0" err="1" smtClean="0"/>
              <a:t>conținut</a:t>
            </a:r>
            <a:r>
              <a:rPr lang="ru-RU" sz="2200" dirty="0" err="1" smtClean="0"/>
              <a:t>ӑ</a:t>
            </a:r>
            <a:r>
              <a:rPr lang="ru-RU" sz="2200" dirty="0" smtClean="0"/>
              <a:t> </a:t>
            </a:r>
            <a:r>
              <a:rPr lang="en-US" sz="2200" dirty="0" smtClean="0"/>
              <a:t>de </a:t>
            </a:r>
            <a:r>
              <a:rPr lang="en-US" sz="2200" dirty="0" err="1" smtClean="0"/>
              <a:t>dicționar</a:t>
            </a:r>
            <a:r>
              <a:rPr lang="en-US" sz="2200" dirty="0" smtClean="0"/>
              <a:t> </a:t>
            </a:r>
            <a:r>
              <a:rPr lang="en-US" sz="2200" dirty="0" err="1" smtClean="0"/>
              <a:t>ȋn</a:t>
            </a:r>
            <a:r>
              <a:rPr lang="en-US" sz="2200" dirty="0" smtClean="0"/>
              <a:t> </a:t>
            </a:r>
            <a:r>
              <a:rPr lang="en-US" sz="2200" dirty="0" err="1" smtClean="0"/>
              <a:t>compartimentul</a:t>
            </a:r>
            <a:r>
              <a:rPr lang="en-US" sz="2200" dirty="0" smtClean="0"/>
              <a:t> “</a:t>
            </a:r>
            <a:r>
              <a:rPr lang="en-US" sz="2200" dirty="0" err="1" smtClean="0"/>
              <a:t>cheie</a:t>
            </a:r>
            <a:r>
              <a:rPr lang="en-US" sz="2200" dirty="0" smtClean="0"/>
              <a:t>”, </a:t>
            </a:r>
            <a:r>
              <a:rPr lang="en-US" sz="2200" dirty="0" err="1" smtClean="0"/>
              <a:t>ȋn</a:t>
            </a:r>
            <a:r>
              <a:rPr lang="en-US" sz="2200" dirty="0" smtClean="0"/>
              <a:t> </a:t>
            </a:r>
            <a:r>
              <a:rPr lang="en-US" sz="2200" dirty="0" err="1" smtClean="0"/>
              <a:t>ipoteza</a:t>
            </a:r>
            <a:r>
              <a:rPr lang="en-US" sz="2200" dirty="0" smtClean="0"/>
              <a:t> c</a:t>
            </a:r>
            <a:r>
              <a:rPr lang="ru-RU" sz="2200" dirty="0" err="1" smtClean="0"/>
              <a:t>ӑ</a:t>
            </a:r>
            <a:r>
              <a:rPr lang="ru-RU" sz="2200" dirty="0" smtClean="0"/>
              <a:t> </a:t>
            </a:r>
            <a:r>
              <a:rPr lang="en-US" sz="2200" dirty="0" smtClean="0"/>
              <a:t>exist</a:t>
            </a:r>
            <a:r>
              <a:rPr lang="ru-RU" sz="2200" dirty="0" err="1" smtClean="0"/>
              <a:t>ӑ</a:t>
            </a:r>
            <a:r>
              <a:rPr lang="ru-RU" sz="2200" dirty="0" smtClean="0"/>
              <a:t> </a:t>
            </a:r>
            <a:r>
              <a:rPr lang="en-US" sz="2200" dirty="0" err="1" smtClean="0"/>
              <a:t>ceva</a:t>
            </a:r>
            <a:r>
              <a:rPr lang="en-US" sz="2200" dirty="0" smtClean="0"/>
              <a:t> </a:t>
            </a:r>
            <a:r>
              <a:rPr lang="en-US" sz="2200" dirty="0" err="1" smtClean="0"/>
              <a:t>acolo</a:t>
            </a:r>
            <a:r>
              <a:rPr lang="en-US" sz="2200" dirty="0" smtClean="0"/>
              <a:t>, </a:t>
            </a:r>
            <a:r>
              <a:rPr lang="en-US" sz="2200" dirty="0" err="1" smtClean="0"/>
              <a:t>iar</a:t>
            </a:r>
            <a:r>
              <a:rPr lang="en-US" sz="2200" dirty="0" smtClean="0"/>
              <a:t> </a:t>
            </a:r>
            <a:r>
              <a:rPr lang="en-US" sz="2200" dirty="0" err="1" smtClean="0"/>
              <a:t>ȋn</a:t>
            </a:r>
            <a:r>
              <a:rPr lang="en-US" sz="2200" dirty="0" smtClean="0"/>
              <a:t> </a:t>
            </a:r>
            <a:r>
              <a:rPr lang="en-US" sz="2200" dirty="0" err="1" smtClean="0"/>
              <a:t>caz</a:t>
            </a:r>
            <a:r>
              <a:rPr lang="en-US" sz="2200" dirty="0" smtClean="0"/>
              <a:t> </a:t>
            </a:r>
            <a:r>
              <a:rPr lang="en-US" sz="2200" dirty="0" err="1" smtClean="0"/>
              <a:t>contrar</a:t>
            </a:r>
            <a:r>
              <a:rPr lang="en-US" sz="2200" dirty="0" smtClean="0"/>
              <a:t>, </a:t>
            </a:r>
            <a:r>
              <a:rPr lang="en-US" sz="2200" dirty="0" err="1" smtClean="0"/>
              <a:t>valoarea</a:t>
            </a:r>
            <a:r>
              <a:rPr lang="en-US" sz="2200" dirty="0" smtClean="0"/>
              <a:t> </a:t>
            </a:r>
            <a:r>
              <a:rPr lang="en-US" sz="2200" dirty="0" err="1" smtClean="0"/>
              <a:t>setat</a:t>
            </a:r>
            <a:r>
              <a:rPr lang="ru-RU" sz="2200" dirty="0" err="1" smtClean="0"/>
              <a:t>ӑ</a:t>
            </a:r>
            <a:r>
              <a:rPr lang="ru-RU" sz="2200" dirty="0" smtClean="0"/>
              <a:t> </a:t>
            </a:r>
            <a:r>
              <a:rPr lang="en-US" sz="2200" dirty="0" err="1" smtClean="0"/>
              <a:t>ȋn</a:t>
            </a:r>
            <a:r>
              <a:rPr lang="en-US" sz="2200" dirty="0" smtClean="0"/>
              <a:t> mod implicit</a:t>
            </a:r>
          </a:p>
          <a:p>
            <a:pPr>
              <a:buFont typeface="Wingdings" pitchFamily="2" charset="2"/>
              <a:buChar char="q"/>
            </a:pPr>
            <a:r>
              <a:rPr lang="en-US" sz="2200" b="1" dirty="0" err="1" smtClean="0"/>
              <a:t>numeDictionar.has_key</a:t>
            </a:r>
            <a:r>
              <a:rPr lang="en-US" sz="2200" b="1" dirty="0" smtClean="0"/>
              <a:t>(</a:t>
            </a:r>
            <a:r>
              <a:rPr lang="en-US" sz="2200" b="1" dirty="0" err="1" smtClean="0"/>
              <a:t>cheie</a:t>
            </a:r>
            <a:r>
              <a:rPr lang="en-US" sz="2200" b="1" dirty="0" smtClean="0"/>
              <a:t>) </a:t>
            </a:r>
            <a:r>
              <a:rPr lang="en-US" sz="2200" dirty="0" smtClean="0"/>
              <a:t>→ </a:t>
            </a:r>
            <a:r>
              <a:rPr lang="en-US" sz="2200" dirty="0" err="1" smtClean="0"/>
              <a:t>Returneaz</a:t>
            </a:r>
            <a:r>
              <a:rPr lang="ru-RU" sz="2200" dirty="0" err="1" smtClean="0"/>
              <a:t>ӑ</a:t>
            </a:r>
            <a:r>
              <a:rPr lang="ru-RU" sz="2200" dirty="0" smtClean="0"/>
              <a:t> </a:t>
            </a:r>
            <a:r>
              <a:rPr lang="en-US" sz="2200" dirty="0" err="1" smtClean="0"/>
              <a:t>valoarea</a:t>
            </a:r>
            <a:r>
              <a:rPr lang="en-US" sz="2200" dirty="0" smtClean="0"/>
              <a:t> “True”, </a:t>
            </a:r>
            <a:r>
              <a:rPr lang="en-US" sz="2200" dirty="0" err="1" smtClean="0"/>
              <a:t>dac</a:t>
            </a:r>
            <a:r>
              <a:rPr lang="ru-RU" sz="2200" dirty="0" err="1" smtClean="0"/>
              <a:t>ӑ</a:t>
            </a:r>
            <a:r>
              <a:rPr lang="ru-RU" sz="2200" dirty="0" smtClean="0"/>
              <a:t> </a:t>
            </a:r>
            <a:r>
              <a:rPr lang="en-US" sz="2200" dirty="0" smtClean="0"/>
              <a:t>exist</a:t>
            </a:r>
            <a:r>
              <a:rPr lang="ru-RU" sz="2200" dirty="0" err="1" smtClean="0"/>
              <a:t>ӑ</a:t>
            </a:r>
            <a:r>
              <a:rPr lang="ru-RU" sz="2200" dirty="0" smtClean="0"/>
              <a:t> </a:t>
            </a:r>
            <a:r>
              <a:rPr lang="en-US" sz="2200" dirty="0" smtClean="0"/>
              <a:t>o </a:t>
            </a:r>
            <a:r>
              <a:rPr lang="en-US" sz="2200" dirty="0" err="1" smtClean="0"/>
              <a:t>ȋnregistrare</a:t>
            </a:r>
            <a:r>
              <a:rPr lang="en-US" sz="2200" dirty="0" smtClean="0"/>
              <a:t> </a:t>
            </a:r>
            <a:r>
              <a:rPr lang="en-US" sz="2200" dirty="0" err="1" smtClean="0"/>
              <a:t>ȋn</a:t>
            </a:r>
            <a:r>
              <a:rPr lang="en-US" sz="2200" dirty="0" smtClean="0"/>
              <a:t> </a:t>
            </a:r>
            <a:r>
              <a:rPr lang="en-US" sz="2200" dirty="0" err="1" smtClean="0"/>
              <a:t>dicționar</a:t>
            </a:r>
            <a:r>
              <a:rPr lang="en-US" sz="2200" dirty="0" smtClean="0"/>
              <a:t> cu </a:t>
            </a:r>
            <a:r>
              <a:rPr lang="en-US" sz="2200" dirty="0" err="1" smtClean="0"/>
              <a:t>cheia</a:t>
            </a:r>
            <a:r>
              <a:rPr lang="en-US" sz="2200" dirty="0" smtClean="0"/>
              <a:t> “</a:t>
            </a:r>
            <a:r>
              <a:rPr lang="en-US" sz="2200" dirty="0" err="1" smtClean="0"/>
              <a:t>cheie</a:t>
            </a:r>
            <a:r>
              <a:rPr lang="en-US" sz="2200" dirty="0" smtClean="0"/>
              <a:t>”, </a:t>
            </a:r>
            <a:r>
              <a:rPr lang="en-US" sz="2200" dirty="0" err="1" smtClean="0"/>
              <a:t>iar</a:t>
            </a:r>
            <a:r>
              <a:rPr lang="en-US" sz="2200" dirty="0" smtClean="0"/>
              <a:t> </a:t>
            </a:r>
            <a:r>
              <a:rPr lang="en-US" sz="2200" dirty="0" err="1" smtClean="0"/>
              <a:t>ȋn</a:t>
            </a:r>
            <a:r>
              <a:rPr lang="en-US" sz="2200" dirty="0" smtClean="0"/>
              <a:t> </a:t>
            </a:r>
            <a:r>
              <a:rPr lang="en-US" sz="2200" dirty="0" err="1" smtClean="0"/>
              <a:t>caz</a:t>
            </a:r>
            <a:r>
              <a:rPr lang="en-US" sz="2200" dirty="0" smtClean="0"/>
              <a:t> </a:t>
            </a:r>
            <a:r>
              <a:rPr lang="en-US" sz="2200" dirty="0" err="1" smtClean="0"/>
              <a:t>contrar</a:t>
            </a:r>
            <a:r>
              <a:rPr lang="en-US" sz="2200" dirty="0" smtClean="0"/>
              <a:t>, </a:t>
            </a:r>
            <a:r>
              <a:rPr lang="en-US" sz="2200" dirty="0" err="1" smtClean="0"/>
              <a:t>returneaz</a:t>
            </a:r>
            <a:r>
              <a:rPr lang="ru-RU" sz="2200" dirty="0" err="1" smtClean="0"/>
              <a:t>ӑ</a:t>
            </a:r>
            <a:r>
              <a:rPr lang="ru-RU" sz="2200" dirty="0" smtClean="0"/>
              <a:t> </a:t>
            </a:r>
            <a:r>
              <a:rPr lang="en-US" sz="2200" dirty="0" err="1" smtClean="0"/>
              <a:t>valoarea</a:t>
            </a:r>
            <a:r>
              <a:rPr lang="en-US" sz="2200" dirty="0" smtClean="0"/>
              <a:t> “False” </a:t>
            </a:r>
          </a:p>
          <a:p>
            <a:pPr>
              <a:buFont typeface="Wingdings" pitchFamily="2" charset="2"/>
              <a:buChar char="q"/>
            </a:pPr>
            <a:r>
              <a:rPr lang="en-US" sz="2200" b="1" dirty="0" err="1" smtClean="0"/>
              <a:t>numeDictionar.items</a:t>
            </a:r>
            <a:r>
              <a:rPr lang="en-US" sz="2200" b="1" dirty="0" smtClean="0"/>
              <a:t>() </a:t>
            </a:r>
            <a:r>
              <a:rPr lang="en-US" sz="2200" dirty="0" smtClean="0"/>
              <a:t>→ </a:t>
            </a:r>
            <a:r>
              <a:rPr lang="en-US" sz="2200" dirty="0" err="1" smtClean="0"/>
              <a:t>Returneaz</a:t>
            </a:r>
            <a:r>
              <a:rPr lang="ru-RU" sz="2200" dirty="0" err="1" smtClean="0"/>
              <a:t>ӑ</a:t>
            </a:r>
            <a:r>
              <a:rPr lang="ru-RU" sz="2200" dirty="0" smtClean="0"/>
              <a:t> </a:t>
            </a:r>
            <a:r>
              <a:rPr lang="en-US" sz="2200" dirty="0" smtClean="0"/>
              <a:t>o list</a:t>
            </a:r>
            <a:r>
              <a:rPr lang="ru-RU" sz="2200" dirty="0" err="1" smtClean="0"/>
              <a:t>ӑ</a:t>
            </a:r>
            <a:r>
              <a:rPr lang="ru-RU" sz="2200" dirty="0" smtClean="0"/>
              <a:t> </a:t>
            </a:r>
            <a:r>
              <a:rPr lang="en-US" sz="2200" dirty="0" smtClean="0"/>
              <a:t>cu </a:t>
            </a:r>
            <a:r>
              <a:rPr lang="en-US" sz="2200" dirty="0" err="1" smtClean="0"/>
              <a:t>toate</a:t>
            </a:r>
            <a:r>
              <a:rPr lang="en-US" sz="2200" dirty="0" smtClean="0"/>
              <a:t> </a:t>
            </a:r>
            <a:r>
              <a:rPr lang="en-US" sz="2200" dirty="0" err="1" smtClean="0"/>
              <a:t>perechile</a:t>
            </a:r>
            <a:r>
              <a:rPr lang="en-US" sz="2200" dirty="0" smtClean="0"/>
              <a:t> de </a:t>
            </a:r>
            <a:r>
              <a:rPr lang="en-US" sz="2200" dirty="0" err="1" smtClean="0"/>
              <a:t>tipul</a:t>
            </a:r>
            <a:r>
              <a:rPr lang="en-US" sz="2200" dirty="0" smtClean="0"/>
              <a:t> (</a:t>
            </a:r>
            <a:r>
              <a:rPr lang="en-US" sz="2200" dirty="0" err="1" smtClean="0"/>
              <a:t>cheie</a:t>
            </a:r>
            <a:r>
              <a:rPr lang="en-US" sz="2200" dirty="0" smtClean="0"/>
              <a:t>, </a:t>
            </a:r>
            <a:r>
              <a:rPr lang="en-US" sz="2200" dirty="0" err="1" smtClean="0"/>
              <a:t>valoare</a:t>
            </a:r>
            <a:r>
              <a:rPr lang="en-US" sz="2200" dirty="0" smtClean="0"/>
              <a:t>) din </a:t>
            </a:r>
            <a:r>
              <a:rPr lang="en-US" sz="2200" dirty="0" err="1" smtClean="0"/>
              <a:t>interiorul</a:t>
            </a:r>
            <a:r>
              <a:rPr lang="en-US" sz="2200" dirty="0" smtClean="0"/>
              <a:t> </a:t>
            </a:r>
            <a:r>
              <a:rPr lang="en-US" sz="2200" dirty="0" err="1" smtClean="0"/>
              <a:t>dicționarului</a:t>
            </a:r>
            <a:endParaRPr lang="en-US" sz="2200" dirty="0" smtClean="0"/>
          </a:p>
          <a:p>
            <a:pPr>
              <a:buFont typeface="Wingdings" pitchFamily="2" charset="2"/>
              <a:buChar char="q"/>
            </a:pPr>
            <a:r>
              <a:rPr lang="en-US" sz="2200" b="1" dirty="0" err="1" smtClean="0"/>
              <a:t>numeDictionar.keys</a:t>
            </a:r>
            <a:r>
              <a:rPr lang="en-US" sz="2200" b="1" dirty="0" smtClean="0"/>
              <a:t>() </a:t>
            </a:r>
            <a:r>
              <a:rPr lang="en-US" sz="2200" dirty="0" smtClean="0"/>
              <a:t>→ </a:t>
            </a:r>
            <a:r>
              <a:rPr lang="en-US" sz="2200" dirty="0" err="1" smtClean="0"/>
              <a:t>Returneaz</a:t>
            </a:r>
            <a:r>
              <a:rPr lang="ru-RU" sz="2200" dirty="0" err="1" smtClean="0"/>
              <a:t>ӑ</a:t>
            </a:r>
            <a:r>
              <a:rPr lang="ru-RU" sz="2200" dirty="0" smtClean="0"/>
              <a:t> </a:t>
            </a:r>
            <a:r>
              <a:rPr lang="en-US" sz="2200" dirty="0" smtClean="0"/>
              <a:t>o list</a:t>
            </a:r>
            <a:r>
              <a:rPr lang="ru-RU" sz="2200" dirty="0" err="1" smtClean="0"/>
              <a:t>ӑ</a:t>
            </a:r>
            <a:r>
              <a:rPr lang="ru-RU" sz="2200" dirty="0" smtClean="0"/>
              <a:t> </a:t>
            </a:r>
            <a:r>
              <a:rPr lang="en-US" sz="2200" dirty="0" smtClean="0"/>
              <a:t>cu </a:t>
            </a:r>
            <a:r>
              <a:rPr lang="en-US" sz="2200" dirty="0" err="1" smtClean="0"/>
              <a:t>toate</a:t>
            </a:r>
            <a:r>
              <a:rPr lang="en-US" sz="2200" dirty="0" smtClean="0"/>
              <a:t> </a:t>
            </a:r>
            <a:r>
              <a:rPr lang="en-US" sz="2200" dirty="0" err="1" smtClean="0"/>
              <a:t>cheile</a:t>
            </a:r>
            <a:r>
              <a:rPr lang="en-US" sz="2200" dirty="0" smtClean="0"/>
              <a:t> </a:t>
            </a:r>
            <a:r>
              <a:rPr lang="en-US" sz="2200" dirty="0" err="1" smtClean="0"/>
              <a:t>dicționarului</a:t>
            </a:r>
            <a:endParaRPr lang="en-US" sz="2200" dirty="0" smtClean="0"/>
          </a:p>
          <a:p>
            <a:pPr>
              <a:buFont typeface="Wingdings" pitchFamily="2" charset="2"/>
              <a:buChar char="q"/>
            </a:pPr>
            <a:r>
              <a:rPr lang="en-US" sz="2200" b="1" dirty="0" err="1" smtClean="0"/>
              <a:t>numeDictionar.setdefault</a:t>
            </a:r>
            <a:r>
              <a:rPr lang="en-US" sz="2200" b="1" dirty="0" smtClean="0"/>
              <a:t>(</a:t>
            </a:r>
            <a:r>
              <a:rPr lang="en-US" sz="2200" b="1" dirty="0" err="1" smtClean="0"/>
              <a:t>cheie</a:t>
            </a:r>
            <a:r>
              <a:rPr lang="en-US" sz="2200" b="1" dirty="0" smtClean="0"/>
              <a:t>, default=None) </a:t>
            </a:r>
            <a:r>
              <a:rPr lang="en-US" sz="2200" dirty="0" smtClean="0"/>
              <a:t>→ Similar</a:t>
            </a:r>
            <a:r>
              <a:rPr lang="ru-RU" sz="2200" dirty="0" err="1" smtClean="0"/>
              <a:t>ӑ</a:t>
            </a:r>
            <a:r>
              <a:rPr lang="ru-RU" sz="2200" dirty="0" smtClean="0"/>
              <a:t> </a:t>
            </a:r>
            <a:r>
              <a:rPr lang="en-US" sz="2200" dirty="0" err="1" smtClean="0"/>
              <a:t>funcției</a:t>
            </a:r>
            <a:r>
              <a:rPr lang="en-US" sz="2200" dirty="0" smtClean="0"/>
              <a:t> </a:t>
            </a:r>
            <a:r>
              <a:rPr lang="en-US" sz="2200" b="1" dirty="0" smtClean="0"/>
              <a:t>get()</a:t>
            </a:r>
            <a:r>
              <a:rPr lang="en-US" sz="2200" dirty="0" smtClean="0"/>
              <a:t>, </a:t>
            </a:r>
            <a:r>
              <a:rPr lang="en-US" sz="2200" dirty="0" err="1" smtClean="0"/>
              <a:t>verific</a:t>
            </a:r>
            <a:r>
              <a:rPr lang="ru-RU" sz="2200" dirty="0" err="1" smtClean="0"/>
              <a:t>ӑ</a:t>
            </a:r>
            <a:r>
              <a:rPr lang="ru-RU" sz="2200" dirty="0" smtClean="0"/>
              <a:t> </a:t>
            </a:r>
            <a:r>
              <a:rPr lang="en-US" sz="2200" dirty="0" err="1" smtClean="0"/>
              <a:t>existența</a:t>
            </a:r>
            <a:r>
              <a:rPr lang="en-US" sz="2200" dirty="0" smtClean="0"/>
              <a:t> </a:t>
            </a:r>
            <a:r>
              <a:rPr lang="en-US" sz="2200" dirty="0" err="1" smtClean="0"/>
              <a:t>cheii</a:t>
            </a:r>
            <a:r>
              <a:rPr lang="en-US" sz="2200" dirty="0" smtClean="0"/>
              <a:t> “</a:t>
            </a:r>
            <a:r>
              <a:rPr lang="en-US" sz="2200" dirty="0" err="1" smtClean="0"/>
              <a:t>cheie</a:t>
            </a:r>
            <a:r>
              <a:rPr lang="en-US" sz="2200" dirty="0" smtClean="0"/>
              <a:t>” </a:t>
            </a:r>
            <a:r>
              <a:rPr lang="en-US" sz="2200" dirty="0" err="1" smtClean="0"/>
              <a:t>ȋn</a:t>
            </a:r>
            <a:r>
              <a:rPr lang="en-US" sz="2200" dirty="0" smtClean="0"/>
              <a:t> </a:t>
            </a:r>
            <a:r>
              <a:rPr lang="en-US" sz="2200" dirty="0" err="1" smtClean="0"/>
              <a:t>dicționar</a:t>
            </a:r>
            <a:r>
              <a:rPr lang="en-US" sz="2200" dirty="0" smtClean="0"/>
              <a:t>, </a:t>
            </a:r>
            <a:r>
              <a:rPr lang="en-US" sz="2200" dirty="0" err="1" smtClean="0"/>
              <a:t>iar</a:t>
            </a:r>
            <a:r>
              <a:rPr lang="en-US" sz="2200" dirty="0" smtClean="0"/>
              <a:t> </a:t>
            </a:r>
            <a:r>
              <a:rPr lang="en-US" sz="2200" dirty="0" err="1" smtClean="0"/>
              <a:t>ȋn</a:t>
            </a:r>
            <a:r>
              <a:rPr lang="en-US" sz="2200" dirty="0" smtClean="0"/>
              <a:t> </a:t>
            </a:r>
            <a:r>
              <a:rPr lang="en-US" sz="2200" dirty="0" err="1" smtClean="0"/>
              <a:t>lipsa</a:t>
            </a:r>
            <a:r>
              <a:rPr lang="en-US" sz="2200" dirty="0" smtClean="0"/>
              <a:t> </a:t>
            </a:r>
            <a:r>
              <a:rPr lang="en-US" sz="2200" dirty="0" err="1" smtClean="0"/>
              <a:t>acesteia</a:t>
            </a:r>
            <a:r>
              <a:rPr lang="en-US" sz="2200" dirty="0" smtClean="0"/>
              <a:t>, o introduce cu </a:t>
            </a:r>
            <a:r>
              <a:rPr lang="en-US" sz="2200" dirty="0" err="1" smtClean="0"/>
              <a:t>valoarea</a:t>
            </a:r>
            <a:r>
              <a:rPr lang="en-US" sz="2200" dirty="0" smtClean="0"/>
              <a:t> implicit</a:t>
            </a:r>
            <a:r>
              <a:rPr lang="ru-RU" sz="2200" dirty="0" err="1" smtClean="0"/>
              <a:t>ӑ</a:t>
            </a:r>
            <a:endParaRPr lang="ru-RU" sz="2200" dirty="0" smtClean="0"/>
          </a:p>
          <a:p>
            <a:pPr>
              <a:buFont typeface="Wingdings" pitchFamily="2" charset="2"/>
              <a:buChar char="q"/>
            </a:pPr>
            <a:r>
              <a:rPr lang="en-US" sz="2200" b="1" dirty="0" smtClean="0"/>
              <a:t>dictionar1.update(dictionar2) </a:t>
            </a:r>
            <a:r>
              <a:rPr lang="en-US" sz="2200" dirty="0" smtClean="0"/>
              <a:t>→ </a:t>
            </a:r>
            <a:r>
              <a:rPr lang="en-US" sz="2200" dirty="0" err="1" smtClean="0"/>
              <a:t>Adaug</a:t>
            </a:r>
            <a:r>
              <a:rPr lang="ru-RU" sz="2200" dirty="0" err="1" smtClean="0"/>
              <a:t>ӑ</a:t>
            </a:r>
            <a:r>
              <a:rPr lang="ru-RU" sz="2200" dirty="0" smtClean="0"/>
              <a:t> </a:t>
            </a:r>
            <a:r>
              <a:rPr lang="en-US" sz="2200" dirty="0" err="1" smtClean="0"/>
              <a:t>conținutul</a:t>
            </a:r>
            <a:r>
              <a:rPr lang="en-US" sz="2200" dirty="0" smtClean="0"/>
              <a:t> </a:t>
            </a:r>
            <a:r>
              <a:rPr lang="en-US" sz="2200" dirty="0" err="1" smtClean="0"/>
              <a:t>dicționarului</a:t>
            </a:r>
            <a:r>
              <a:rPr lang="en-US" sz="2200" dirty="0" smtClean="0"/>
              <a:t> “dictionar2” </a:t>
            </a:r>
            <a:r>
              <a:rPr lang="en-US" sz="2200" dirty="0" err="1" smtClean="0"/>
              <a:t>ȋn</a:t>
            </a:r>
            <a:r>
              <a:rPr lang="en-US" sz="2200" dirty="0" smtClean="0"/>
              <a:t> </a:t>
            </a:r>
            <a:r>
              <a:rPr lang="en-US" sz="2200" dirty="0" err="1" smtClean="0"/>
              <a:t>dicționarul</a:t>
            </a:r>
            <a:r>
              <a:rPr lang="en-US" sz="2200" dirty="0" smtClean="0"/>
              <a:t> “dictionar1”</a:t>
            </a:r>
          </a:p>
          <a:p>
            <a:pPr>
              <a:buFont typeface="Wingdings" pitchFamily="2" charset="2"/>
              <a:buChar char="q"/>
            </a:pPr>
            <a:r>
              <a:rPr lang="en-US" sz="2200" b="1" dirty="0" err="1" smtClean="0"/>
              <a:t>numeDictionar.values</a:t>
            </a:r>
            <a:r>
              <a:rPr lang="en-US" sz="2200" b="1" dirty="0" smtClean="0"/>
              <a:t>() </a:t>
            </a:r>
            <a:r>
              <a:rPr lang="en-US" sz="2200" dirty="0" smtClean="0"/>
              <a:t>→ </a:t>
            </a:r>
            <a:r>
              <a:rPr lang="en-US" sz="2200" dirty="0" err="1" smtClean="0"/>
              <a:t>Returneaz</a:t>
            </a:r>
            <a:r>
              <a:rPr lang="ru-RU" sz="2200" dirty="0" err="1" smtClean="0"/>
              <a:t>ӑ</a:t>
            </a:r>
            <a:r>
              <a:rPr lang="ru-RU" sz="2200" dirty="0" smtClean="0"/>
              <a:t> </a:t>
            </a:r>
            <a:r>
              <a:rPr lang="en-US" sz="2200" dirty="0" smtClean="0"/>
              <a:t>o list</a:t>
            </a:r>
            <a:r>
              <a:rPr lang="ru-RU" sz="2200" dirty="0" err="1" smtClean="0"/>
              <a:t>ӑ</a:t>
            </a:r>
            <a:r>
              <a:rPr lang="ru-RU" sz="2200" dirty="0" smtClean="0"/>
              <a:t> </a:t>
            </a:r>
            <a:r>
              <a:rPr lang="en-US" sz="2200" dirty="0" smtClean="0"/>
              <a:t>cu </a:t>
            </a:r>
            <a:r>
              <a:rPr lang="en-US" sz="2200" dirty="0" err="1" smtClean="0"/>
              <a:t>valorile</a:t>
            </a:r>
            <a:r>
              <a:rPr lang="en-US" sz="2200" dirty="0" smtClean="0"/>
              <a:t> </a:t>
            </a:r>
            <a:r>
              <a:rPr lang="en-US" sz="2200" dirty="0" err="1" smtClean="0"/>
              <a:t>reg</a:t>
            </a:r>
            <a:r>
              <a:rPr lang="ru-RU" sz="2200" dirty="0" err="1" smtClean="0"/>
              <a:t>ӑ</a:t>
            </a:r>
            <a:r>
              <a:rPr lang="en-US" sz="2200" dirty="0" smtClean="0"/>
              <a:t>site </a:t>
            </a:r>
            <a:r>
              <a:rPr lang="en-US" sz="2200" dirty="0" err="1" smtClean="0"/>
              <a:t>ȋn</a:t>
            </a:r>
            <a:r>
              <a:rPr lang="en-US" sz="2200" dirty="0" smtClean="0"/>
              <a:t> </a:t>
            </a:r>
            <a:r>
              <a:rPr lang="en-US" sz="2200" dirty="0" err="1" smtClean="0"/>
              <a:t>dicționar</a:t>
            </a:r>
            <a:endParaRPr lang="en-US" sz="2200" dirty="0" smtClean="0"/>
          </a:p>
          <a:p>
            <a:endParaRPr lang="ro-RO" sz="2200" b="1"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ro-MO" sz="3200" b="1" dirty="0" smtClean="0">
                <a:solidFill>
                  <a:schemeClr val="accent6">
                    <a:lumMod val="50000"/>
                  </a:schemeClr>
                </a:solidFill>
              </a:rPr>
              <a:t>PROBLEME: </a:t>
            </a:r>
            <a:r>
              <a:rPr lang="it-IT" sz="3200" b="1" dirty="0" smtClean="0">
                <a:solidFill>
                  <a:schemeClr val="accent6">
                    <a:lumMod val="50000"/>
                  </a:schemeClr>
                </a:solidFill>
              </a:rPr>
              <a:t>LUCRUL CU DICȚIONARE</a:t>
            </a:r>
            <a:r>
              <a:rPr lang="ro-MO" sz="3200" b="1" dirty="0" smtClean="0">
                <a:solidFill>
                  <a:schemeClr val="accent6">
                    <a:lumMod val="50000"/>
                  </a:schemeClr>
                </a:solidFill>
              </a:rPr>
              <a:t>LE</a:t>
            </a:r>
            <a:endParaRPr lang="it-IT" sz="3200" b="1" dirty="0">
              <a:solidFill>
                <a:schemeClr val="accent6">
                  <a:lumMod val="50000"/>
                </a:schemeClr>
              </a:solidFill>
            </a:endParaRPr>
          </a:p>
        </p:txBody>
      </p:sp>
      <p:sp>
        <p:nvSpPr>
          <p:cNvPr id="5" name="TextBox 4"/>
          <p:cNvSpPr txBox="1"/>
          <p:nvPr/>
        </p:nvSpPr>
        <p:spPr>
          <a:xfrm>
            <a:off x="0" y="685800"/>
            <a:ext cx="9144000" cy="5478423"/>
          </a:xfrm>
          <a:prstGeom prst="rect">
            <a:avLst/>
          </a:prstGeom>
          <a:noFill/>
        </p:spPr>
        <p:txBody>
          <a:bodyPr wrap="square" rtlCol="0">
            <a:spAutoFit/>
          </a:bodyPr>
          <a:lstStyle/>
          <a:p>
            <a:pPr marL="457200" indent="-457200">
              <a:buAutoNum type="arabicPeriod"/>
            </a:pPr>
            <a:r>
              <a:rPr lang="vi-VN" sz="2200" b="1" dirty="0" smtClean="0"/>
              <a:t>Creați un dicționar și afișați-i cheile de listă în ordine </a:t>
            </a:r>
            <a:r>
              <a:rPr lang="ro-MO" sz="2200" b="1" dirty="0" smtClean="0"/>
              <a:t>crescătoare</a:t>
            </a:r>
            <a:endParaRPr lang="ro-MO" sz="2200" b="1" dirty="0" smtClean="0"/>
          </a:p>
          <a:p>
            <a:pPr marL="457200" indent="-457200"/>
            <a:r>
              <a:rPr lang="ro-MO" sz="2200" b="1" dirty="0" smtClean="0"/>
              <a:t>	</a:t>
            </a:r>
            <a:r>
              <a:rPr lang="vi-VN" sz="2200" b="1" dirty="0" smtClean="0"/>
              <a:t>Afișați cheile</a:t>
            </a:r>
            <a:r>
              <a:rPr lang="ro-MO" sz="2200" b="1" dirty="0" smtClean="0"/>
              <a:t> </a:t>
            </a:r>
            <a:r>
              <a:rPr lang="vi-VN" sz="2200" b="1" dirty="0" smtClean="0"/>
              <a:t>sortate </a:t>
            </a:r>
            <a:r>
              <a:rPr lang="vi-VN" sz="2200" b="1" dirty="0" smtClean="0"/>
              <a:t>în ordine </a:t>
            </a:r>
            <a:r>
              <a:rPr lang="ro-MO" sz="2200" b="1" dirty="0" smtClean="0"/>
              <a:t>crescătoare</a:t>
            </a:r>
            <a:r>
              <a:rPr lang="vi-VN" sz="2200" b="1" dirty="0" smtClean="0"/>
              <a:t>.</a:t>
            </a:r>
            <a:endParaRPr lang="ro-MO" sz="2200" b="1" dirty="0" smtClean="0"/>
          </a:p>
          <a:p>
            <a:pPr marL="457200" indent="-457200"/>
            <a:r>
              <a:rPr lang="ro-MO" sz="2200" b="1" dirty="0" smtClean="0"/>
              <a:t>	</a:t>
            </a:r>
          </a:p>
          <a:p>
            <a:pPr marL="457200" indent="-457200"/>
            <a:endParaRPr lang="ro-MO" sz="2200" b="1" dirty="0" smtClean="0"/>
          </a:p>
          <a:p>
            <a:pPr marL="457200" indent="-457200"/>
            <a:r>
              <a:rPr lang="ro-MO" sz="2200" b="1" dirty="0" smtClean="0"/>
              <a:t>Exemplu:</a:t>
            </a:r>
          </a:p>
          <a:p>
            <a:pPr marL="457200" indent="-457200"/>
            <a:endParaRPr lang="ro-MO" sz="2400" b="1" dirty="0" smtClean="0"/>
          </a:p>
          <a:p>
            <a:pPr marL="457200" indent="-457200"/>
            <a:r>
              <a:rPr lang="en-US" sz="2400" b="1" dirty="0" smtClean="0"/>
              <a:t>Input:</a:t>
            </a:r>
            <a:r>
              <a:rPr lang="en-US" sz="2400" dirty="0" smtClean="0"/>
              <a:t> </a:t>
            </a:r>
            <a:endParaRPr lang="ro-MO" sz="2400" dirty="0" smtClean="0"/>
          </a:p>
          <a:p>
            <a:pPr marL="457200" indent="-457200"/>
            <a:r>
              <a:rPr lang="ro-MO" sz="2400" dirty="0" smtClean="0"/>
              <a:t>	</a:t>
            </a:r>
            <a:r>
              <a:rPr lang="en-US" sz="2400" dirty="0" err="1" smtClean="0"/>
              <a:t>key_value</a:t>
            </a:r>
            <a:r>
              <a:rPr lang="en-US" sz="2400" dirty="0" smtClean="0"/>
              <a:t>[2] = '56' </a:t>
            </a:r>
            <a:endParaRPr lang="ro-MO" sz="2400" dirty="0" smtClean="0"/>
          </a:p>
          <a:p>
            <a:pPr marL="457200" indent="-457200"/>
            <a:r>
              <a:rPr lang="ro-MO" sz="2400" dirty="0" smtClean="0"/>
              <a:t>	</a:t>
            </a:r>
            <a:r>
              <a:rPr lang="en-US" sz="2400" dirty="0" err="1" smtClean="0"/>
              <a:t>key_value</a:t>
            </a:r>
            <a:r>
              <a:rPr lang="en-US" sz="2400" dirty="0" smtClean="0"/>
              <a:t>[1] = '2' </a:t>
            </a:r>
            <a:endParaRPr lang="ro-MO" sz="2400" dirty="0" smtClean="0"/>
          </a:p>
          <a:p>
            <a:pPr marL="457200" indent="-457200"/>
            <a:r>
              <a:rPr lang="ro-MO" sz="2400" dirty="0" smtClean="0"/>
              <a:t>	</a:t>
            </a:r>
            <a:r>
              <a:rPr lang="en-US" sz="2400" dirty="0" err="1" smtClean="0"/>
              <a:t>key_value</a:t>
            </a:r>
            <a:r>
              <a:rPr lang="en-US" sz="2400" dirty="0" smtClean="0"/>
              <a:t>[4] = '12' </a:t>
            </a:r>
            <a:endParaRPr lang="ro-MO" sz="2400" dirty="0" smtClean="0"/>
          </a:p>
          <a:p>
            <a:pPr marL="457200" indent="-457200"/>
            <a:r>
              <a:rPr lang="ro-MO" sz="2400" dirty="0" smtClean="0"/>
              <a:t>	</a:t>
            </a:r>
            <a:r>
              <a:rPr lang="en-US" sz="2400" dirty="0" err="1" smtClean="0"/>
              <a:t>key_value</a:t>
            </a:r>
            <a:r>
              <a:rPr lang="en-US" sz="2400" dirty="0" smtClean="0"/>
              <a:t>[5] = '24' </a:t>
            </a:r>
            <a:endParaRPr lang="ro-MO" sz="2400" dirty="0" smtClean="0"/>
          </a:p>
          <a:p>
            <a:pPr marL="457200" indent="-457200"/>
            <a:r>
              <a:rPr lang="ro-MO" sz="2400" dirty="0" smtClean="0"/>
              <a:t>	</a:t>
            </a:r>
            <a:r>
              <a:rPr lang="en-US" sz="2400" dirty="0" err="1" smtClean="0"/>
              <a:t>key_value</a:t>
            </a:r>
            <a:r>
              <a:rPr lang="en-US" sz="2400" dirty="0" smtClean="0"/>
              <a:t>[6] = '18' </a:t>
            </a:r>
            <a:endParaRPr lang="ro-MO" sz="2400" dirty="0" smtClean="0"/>
          </a:p>
          <a:p>
            <a:pPr marL="457200" indent="-457200"/>
            <a:r>
              <a:rPr lang="ro-MO" sz="2400" dirty="0" smtClean="0"/>
              <a:t>	</a:t>
            </a:r>
            <a:r>
              <a:rPr lang="en-US" sz="2400" dirty="0" err="1" smtClean="0"/>
              <a:t>key_value</a:t>
            </a:r>
            <a:r>
              <a:rPr lang="en-US" sz="2400" dirty="0" smtClean="0"/>
              <a:t>[3] = '323‘</a:t>
            </a:r>
            <a:endParaRPr lang="ro-MO" sz="2400" dirty="0" smtClean="0"/>
          </a:p>
          <a:p>
            <a:pPr marL="457200" indent="-457200"/>
            <a:endParaRPr lang="ro-MO" sz="2400" b="1" dirty="0" smtClean="0"/>
          </a:p>
          <a:p>
            <a:pPr marL="457200" indent="-457200"/>
            <a:r>
              <a:rPr lang="en-US" sz="2400" b="1" dirty="0" smtClean="0"/>
              <a:t>Output:</a:t>
            </a:r>
            <a:r>
              <a:rPr lang="en-US" sz="2400" dirty="0" smtClean="0"/>
              <a:t> 1 2 3 4 5 6 </a:t>
            </a:r>
            <a:endParaRPr lang="ro-RO" sz="2200" b="1"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ro-MO" sz="3200" b="1" dirty="0" smtClean="0">
                <a:solidFill>
                  <a:schemeClr val="accent6">
                    <a:lumMod val="50000"/>
                  </a:schemeClr>
                </a:solidFill>
              </a:rPr>
              <a:t>PROBLEME: </a:t>
            </a:r>
            <a:r>
              <a:rPr lang="it-IT" sz="3200" b="1" dirty="0" smtClean="0">
                <a:solidFill>
                  <a:schemeClr val="accent6">
                    <a:lumMod val="50000"/>
                  </a:schemeClr>
                </a:solidFill>
              </a:rPr>
              <a:t>LUCRUL CU DICȚIONARE</a:t>
            </a:r>
            <a:r>
              <a:rPr lang="ro-MO" sz="3200" b="1" dirty="0" smtClean="0">
                <a:solidFill>
                  <a:schemeClr val="accent6">
                    <a:lumMod val="50000"/>
                  </a:schemeClr>
                </a:solidFill>
              </a:rPr>
              <a:t>LE</a:t>
            </a:r>
            <a:endParaRPr lang="it-IT" sz="3200" b="1" dirty="0">
              <a:solidFill>
                <a:schemeClr val="accent6">
                  <a:lumMod val="50000"/>
                </a:schemeClr>
              </a:solidFill>
            </a:endParaRPr>
          </a:p>
        </p:txBody>
      </p:sp>
      <p:sp>
        <p:nvSpPr>
          <p:cNvPr id="5" name="TextBox 4"/>
          <p:cNvSpPr txBox="1"/>
          <p:nvPr/>
        </p:nvSpPr>
        <p:spPr>
          <a:xfrm>
            <a:off x="0" y="685800"/>
            <a:ext cx="9144000" cy="6247864"/>
          </a:xfrm>
          <a:prstGeom prst="rect">
            <a:avLst/>
          </a:prstGeom>
          <a:noFill/>
        </p:spPr>
        <p:txBody>
          <a:bodyPr wrap="square" rtlCol="0">
            <a:spAutoFit/>
          </a:bodyPr>
          <a:lstStyle/>
          <a:p>
            <a:pPr marL="457200" indent="-457200">
              <a:buAutoNum type="arabicPeriod"/>
            </a:pPr>
            <a:r>
              <a:rPr lang="ro-RO" sz="2000" b="1" dirty="0" smtClean="0"/>
              <a:t>REZOLVARE</a:t>
            </a:r>
          </a:p>
          <a:p>
            <a:pPr marL="457200" indent="-457200"/>
            <a:endParaRPr lang="ro-RO" sz="2000" b="1" dirty="0" smtClean="0"/>
          </a:p>
          <a:p>
            <a:pPr marL="457200" indent="-457200"/>
            <a:r>
              <a:rPr lang="en-US" sz="2000" b="1" dirty="0" smtClean="0"/>
              <a:t>def </a:t>
            </a:r>
            <a:r>
              <a:rPr lang="en-US" sz="2000" b="1" dirty="0" err="1" smtClean="0"/>
              <a:t>dictionairy</a:t>
            </a:r>
            <a:r>
              <a:rPr lang="en-US" sz="2000" b="1" dirty="0" smtClean="0"/>
              <a:t>():    </a:t>
            </a:r>
            <a:endParaRPr lang="ro-MO" sz="2000" b="1" dirty="0" smtClean="0"/>
          </a:p>
          <a:p>
            <a:pPr marL="457200" indent="-457200"/>
            <a:r>
              <a:rPr lang="ro-MO" sz="2000" b="1" dirty="0" smtClean="0"/>
              <a:t>	</a:t>
            </a:r>
            <a:r>
              <a:rPr lang="en-US" sz="2000" b="1" dirty="0" err="1" smtClean="0"/>
              <a:t>key_value</a:t>
            </a:r>
            <a:r>
              <a:rPr lang="en-US" sz="2000" b="1" dirty="0" smtClean="0"/>
              <a:t> = {}        </a:t>
            </a:r>
            <a:endParaRPr lang="ro-MO" sz="2000" b="1" dirty="0" smtClean="0"/>
          </a:p>
          <a:p>
            <a:pPr marL="457200" indent="-457200"/>
            <a:r>
              <a:rPr lang="ro-MO" sz="2000" b="1" dirty="0" smtClean="0"/>
              <a:t>	</a:t>
            </a:r>
            <a:r>
              <a:rPr lang="en-US" sz="2000" b="1" dirty="0" err="1" smtClean="0"/>
              <a:t>key_value</a:t>
            </a:r>
            <a:r>
              <a:rPr lang="en-US" sz="2000" b="1" dirty="0" smtClean="0"/>
              <a:t>[2] = 56    </a:t>
            </a:r>
            <a:endParaRPr lang="ro-MO" sz="2000" b="1" dirty="0" smtClean="0"/>
          </a:p>
          <a:p>
            <a:pPr marL="457200" indent="-457200"/>
            <a:r>
              <a:rPr lang="ro-MO" sz="2000" b="1" dirty="0" smtClean="0"/>
              <a:t>	</a:t>
            </a:r>
            <a:r>
              <a:rPr lang="en-US" sz="2000" b="1" dirty="0" err="1" smtClean="0"/>
              <a:t>key_value</a:t>
            </a:r>
            <a:r>
              <a:rPr lang="en-US" sz="2000" b="1" dirty="0" smtClean="0"/>
              <a:t>[1] = 2    </a:t>
            </a:r>
            <a:endParaRPr lang="ro-MO" sz="2000" b="1" dirty="0" smtClean="0"/>
          </a:p>
          <a:p>
            <a:pPr marL="457200" indent="-457200"/>
            <a:r>
              <a:rPr lang="ro-MO" sz="2000" b="1" dirty="0" smtClean="0"/>
              <a:t>	</a:t>
            </a:r>
            <a:r>
              <a:rPr lang="en-US" sz="2000" b="1" dirty="0" err="1" smtClean="0"/>
              <a:t>key_value</a:t>
            </a:r>
            <a:r>
              <a:rPr lang="en-US" sz="2000" b="1" dirty="0" smtClean="0"/>
              <a:t>[5] = 12    </a:t>
            </a:r>
            <a:endParaRPr lang="ro-MO" sz="2000" b="1" dirty="0" smtClean="0"/>
          </a:p>
          <a:p>
            <a:pPr marL="457200" indent="-457200"/>
            <a:r>
              <a:rPr lang="ro-MO" sz="2000" b="1" dirty="0" smtClean="0"/>
              <a:t>	</a:t>
            </a:r>
            <a:r>
              <a:rPr lang="en-US" sz="2000" b="1" dirty="0" err="1" smtClean="0"/>
              <a:t>key_value</a:t>
            </a:r>
            <a:r>
              <a:rPr lang="en-US" sz="2000" b="1" dirty="0" smtClean="0"/>
              <a:t>[4] = 24    </a:t>
            </a:r>
            <a:endParaRPr lang="ro-MO" sz="2000" b="1" dirty="0" smtClean="0"/>
          </a:p>
          <a:p>
            <a:pPr marL="457200" indent="-457200"/>
            <a:r>
              <a:rPr lang="ro-MO" sz="2000" b="1" dirty="0" smtClean="0"/>
              <a:t>	</a:t>
            </a:r>
            <a:r>
              <a:rPr lang="en-US" sz="2000" b="1" dirty="0" err="1" smtClean="0"/>
              <a:t>ey_value</a:t>
            </a:r>
            <a:r>
              <a:rPr lang="en-US" sz="2000" b="1" dirty="0" smtClean="0"/>
              <a:t>[6] = 18    </a:t>
            </a:r>
            <a:endParaRPr lang="ro-MO" sz="2000" b="1" dirty="0" smtClean="0"/>
          </a:p>
          <a:p>
            <a:pPr marL="457200" indent="-457200"/>
            <a:r>
              <a:rPr lang="ro-MO" sz="2000" b="1" dirty="0" smtClean="0"/>
              <a:t>	</a:t>
            </a:r>
            <a:r>
              <a:rPr lang="en-US" sz="2000" b="1" dirty="0" err="1" smtClean="0"/>
              <a:t>key_value</a:t>
            </a:r>
            <a:r>
              <a:rPr lang="en-US" sz="2000" b="1" dirty="0" smtClean="0"/>
              <a:t>[3] = 323        </a:t>
            </a:r>
            <a:endParaRPr lang="ro-MO" sz="2000" b="1" dirty="0" smtClean="0"/>
          </a:p>
          <a:p>
            <a:pPr marL="457200" indent="-457200"/>
            <a:endParaRPr lang="ro-MO" sz="2000" b="1" dirty="0" smtClean="0"/>
          </a:p>
          <a:p>
            <a:pPr marL="457200" indent="-457200"/>
            <a:r>
              <a:rPr lang="ro-MO" sz="2000" b="1" dirty="0" smtClean="0"/>
              <a:t>	</a:t>
            </a:r>
            <a:r>
              <a:rPr lang="en-US" sz="2000" b="1" dirty="0" smtClean="0"/>
              <a:t>print("</a:t>
            </a:r>
            <a:r>
              <a:rPr lang="en-US" sz="2000" b="1" dirty="0" err="1" smtClean="0"/>
              <a:t>key_value</a:t>
            </a:r>
            <a:r>
              <a:rPr lang="en-US" sz="2000" b="1" dirty="0" smtClean="0"/>
              <a:t>", </a:t>
            </a:r>
            <a:r>
              <a:rPr lang="en-US" sz="2000" b="1" dirty="0" err="1" smtClean="0"/>
              <a:t>key_value</a:t>
            </a:r>
            <a:r>
              <a:rPr lang="en-US" sz="2000" b="1" dirty="0" smtClean="0"/>
              <a:t>)     </a:t>
            </a:r>
            <a:endParaRPr lang="ro-MO" sz="2000" b="1" dirty="0" smtClean="0"/>
          </a:p>
          <a:p>
            <a:pPr marL="457200" indent="-457200"/>
            <a:endParaRPr lang="ro-MO" sz="2000" b="1" dirty="0" smtClean="0"/>
          </a:p>
          <a:p>
            <a:pPr marL="457200" indent="-457200"/>
            <a:r>
              <a:rPr lang="ro-MO" sz="2000" b="1" dirty="0" smtClean="0"/>
              <a:t>	</a:t>
            </a:r>
            <a:r>
              <a:rPr lang="en-US" sz="2000" b="1" dirty="0" smtClean="0"/>
              <a:t>for </a:t>
            </a:r>
            <a:r>
              <a:rPr lang="en-US" sz="2000" b="1" dirty="0" err="1" smtClean="0"/>
              <a:t>i</a:t>
            </a:r>
            <a:r>
              <a:rPr lang="en-US" sz="2000" b="1" dirty="0" smtClean="0"/>
              <a:t> in sorted(</a:t>
            </a:r>
            <a:r>
              <a:rPr lang="en-US" sz="2000" b="1" dirty="0" err="1" smtClean="0"/>
              <a:t>key_value.keys</a:t>
            </a:r>
            <a:r>
              <a:rPr lang="en-US" sz="2000" b="1" dirty="0" smtClean="0"/>
              <a:t>()):        </a:t>
            </a:r>
            <a:endParaRPr lang="ro-MO" sz="2000" b="1" dirty="0" smtClean="0"/>
          </a:p>
          <a:p>
            <a:pPr marL="457200" indent="-457200"/>
            <a:r>
              <a:rPr lang="ro-MO" sz="2000" b="1" dirty="0" smtClean="0"/>
              <a:t>		</a:t>
            </a:r>
            <a:r>
              <a:rPr lang="en-US" sz="2000" b="1" dirty="0" smtClean="0"/>
              <a:t>print(</a:t>
            </a:r>
            <a:r>
              <a:rPr lang="en-US" sz="2000" b="1" dirty="0" err="1" smtClean="0"/>
              <a:t>i</a:t>
            </a:r>
            <a:r>
              <a:rPr lang="en-US" sz="2000" b="1" dirty="0" smtClean="0"/>
              <a:t>, end=" ") </a:t>
            </a:r>
            <a:endParaRPr lang="ro-MO" sz="2000" b="1" dirty="0" smtClean="0"/>
          </a:p>
          <a:p>
            <a:pPr marL="457200" indent="-457200"/>
            <a:r>
              <a:rPr lang="en-US" sz="2000" b="1" dirty="0" smtClean="0"/>
              <a:t>def main():   </a:t>
            </a:r>
            <a:endParaRPr lang="ro-MO" sz="2000" b="1" dirty="0" smtClean="0"/>
          </a:p>
          <a:p>
            <a:pPr marL="457200" indent="-457200"/>
            <a:r>
              <a:rPr lang="ro-MO" sz="2000" b="1" dirty="0" smtClean="0"/>
              <a:t>	</a:t>
            </a:r>
            <a:r>
              <a:rPr lang="en-US" sz="2000" b="1" dirty="0" err="1" smtClean="0"/>
              <a:t>dictionairy</a:t>
            </a:r>
            <a:r>
              <a:rPr lang="en-US" sz="2000" b="1" dirty="0" smtClean="0"/>
              <a:t>() </a:t>
            </a:r>
            <a:endParaRPr lang="ro-MO" sz="2000" b="1" dirty="0" smtClean="0"/>
          </a:p>
          <a:p>
            <a:pPr marL="457200" indent="-457200"/>
            <a:endParaRPr lang="ro-MO" sz="2000" b="1" dirty="0" smtClean="0"/>
          </a:p>
          <a:p>
            <a:pPr marL="457200" indent="-457200"/>
            <a:r>
              <a:rPr lang="en-US" sz="2000" b="1" dirty="0" smtClean="0"/>
              <a:t>if __name__ == "__main__":    </a:t>
            </a:r>
            <a:endParaRPr lang="ro-MO" sz="2000" b="1" dirty="0" smtClean="0"/>
          </a:p>
          <a:p>
            <a:pPr marL="457200" indent="-457200"/>
            <a:r>
              <a:rPr lang="ro-MO" sz="2000" b="1" dirty="0" smtClean="0"/>
              <a:t>		</a:t>
            </a:r>
            <a:r>
              <a:rPr lang="en-US" sz="2000" b="1" dirty="0" smtClean="0"/>
              <a:t>main()</a:t>
            </a:r>
            <a:endParaRPr lang="ro-RO" sz="2000" b="1" dirty="0" smtClean="0"/>
          </a:p>
        </p:txBody>
      </p:sp>
      <p:pic>
        <p:nvPicPr>
          <p:cNvPr id="1026" name="Picture 2"/>
          <p:cNvPicPr>
            <a:picLocks noChangeAspect="1" noChangeArrowheads="1"/>
          </p:cNvPicPr>
          <p:nvPr/>
        </p:nvPicPr>
        <p:blipFill>
          <a:blip r:embed="rId2" cstate="print"/>
          <a:srcRect/>
          <a:stretch>
            <a:fillRect/>
          </a:stretch>
        </p:blipFill>
        <p:spPr bwMode="auto">
          <a:xfrm>
            <a:off x="4724400" y="838200"/>
            <a:ext cx="3721100" cy="470535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3943350" y="5867400"/>
            <a:ext cx="5200650" cy="882393"/>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ro-MO" sz="3200" b="1" dirty="0" smtClean="0">
                <a:solidFill>
                  <a:schemeClr val="accent6">
                    <a:lumMod val="50000"/>
                  </a:schemeClr>
                </a:solidFill>
              </a:rPr>
              <a:t>PROBLEME: </a:t>
            </a:r>
            <a:r>
              <a:rPr lang="it-IT" sz="3200" b="1" dirty="0" smtClean="0">
                <a:solidFill>
                  <a:schemeClr val="accent6">
                    <a:lumMod val="50000"/>
                  </a:schemeClr>
                </a:solidFill>
              </a:rPr>
              <a:t>LUCRUL CU DICȚIONARE</a:t>
            </a:r>
            <a:r>
              <a:rPr lang="ro-MO" sz="3200" b="1" dirty="0" smtClean="0">
                <a:solidFill>
                  <a:schemeClr val="accent6">
                    <a:lumMod val="50000"/>
                  </a:schemeClr>
                </a:solidFill>
              </a:rPr>
              <a:t>LE</a:t>
            </a:r>
            <a:endParaRPr lang="it-IT" sz="3200" b="1" dirty="0">
              <a:solidFill>
                <a:schemeClr val="accent6">
                  <a:lumMod val="50000"/>
                </a:schemeClr>
              </a:solidFill>
            </a:endParaRPr>
          </a:p>
        </p:txBody>
      </p:sp>
      <p:sp>
        <p:nvSpPr>
          <p:cNvPr id="5" name="TextBox 4"/>
          <p:cNvSpPr txBox="1"/>
          <p:nvPr/>
        </p:nvSpPr>
        <p:spPr>
          <a:xfrm>
            <a:off x="0" y="685800"/>
            <a:ext cx="9144000" cy="5139869"/>
          </a:xfrm>
          <a:prstGeom prst="rect">
            <a:avLst/>
          </a:prstGeom>
          <a:noFill/>
        </p:spPr>
        <p:txBody>
          <a:bodyPr wrap="square" rtlCol="0">
            <a:spAutoFit/>
          </a:bodyPr>
          <a:lstStyle/>
          <a:p>
            <a:pPr marL="457200" indent="-457200"/>
            <a:r>
              <a:rPr lang="ro-MO" sz="2200" b="1" dirty="0" smtClean="0"/>
              <a:t>2. </a:t>
            </a:r>
            <a:r>
              <a:rPr lang="vi-VN" sz="2200" b="1" dirty="0" smtClean="0"/>
              <a:t>Creați </a:t>
            </a:r>
            <a:r>
              <a:rPr lang="vi-VN" sz="2200" b="1" dirty="0" smtClean="0"/>
              <a:t>un dicționar și afișați-i cheile de listă în ordine </a:t>
            </a:r>
            <a:r>
              <a:rPr lang="ro-MO" sz="2200" b="1" dirty="0" smtClean="0"/>
              <a:t>crescătoare</a:t>
            </a:r>
            <a:r>
              <a:rPr lang="vi-VN" sz="2200" b="1" dirty="0" smtClean="0"/>
              <a:t>.</a:t>
            </a:r>
            <a:endParaRPr lang="ro-MO" sz="2200" b="1" dirty="0" smtClean="0"/>
          </a:p>
          <a:p>
            <a:pPr marL="457200" indent="-457200"/>
            <a:r>
              <a:rPr lang="ro-MO" sz="2200" b="1" dirty="0" smtClean="0"/>
              <a:t>	</a:t>
            </a:r>
            <a:r>
              <a:rPr lang="ro-MO" sz="2200" b="1" dirty="0" smtClean="0"/>
              <a:t>Afişaţi valorile </a:t>
            </a:r>
            <a:r>
              <a:rPr lang="vi-VN" sz="2200" b="1" dirty="0" smtClean="0"/>
              <a:t>sortate în ordine </a:t>
            </a:r>
            <a:r>
              <a:rPr lang="ro-MO" sz="2200" b="1" dirty="0" smtClean="0"/>
              <a:t>crescătoare</a:t>
            </a:r>
            <a:r>
              <a:rPr lang="vi-VN" sz="2200" b="1" dirty="0" smtClean="0"/>
              <a:t> după </a:t>
            </a:r>
            <a:r>
              <a:rPr lang="ro-MO" sz="2200" b="1" dirty="0" smtClean="0"/>
              <a:t>cheie</a:t>
            </a:r>
            <a:r>
              <a:rPr lang="vi-VN" sz="2200" b="1" dirty="0" smtClean="0"/>
              <a:t>.</a:t>
            </a:r>
            <a:endParaRPr lang="ro-MO" sz="2200" b="1" dirty="0" smtClean="0"/>
          </a:p>
          <a:p>
            <a:pPr marL="457200" indent="-457200"/>
            <a:endParaRPr lang="ro-MO" sz="2200" b="1" dirty="0" smtClean="0"/>
          </a:p>
          <a:p>
            <a:pPr marL="457200" indent="-457200"/>
            <a:r>
              <a:rPr lang="ro-MO" sz="2200" b="1" dirty="0" smtClean="0"/>
              <a:t>Exemplu:</a:t>
            </a:r>
          </a:p>
          <a:p>
            <a:pPr marL="457200" indent="-457200"/>
            <a:endParaRPr lang="ro-MO" sz="2400" b="1" dirty="0" smtClean="0"/>
          </a:p>
          <a:p>
            <a:pPr marL="457200" indent="-457200"/>
            <a:r>
              <a:rPr lang="en-US" sz="2400" b="1" dirty="0" smtClean="0"/>
              <a:t>Input:</a:t>
            </a:r>
            <a:r>
              <a:rPr lang="en-US" sz="2400" dirty="0" smtClean="0"/>
              <a:t> </a:t>
            </a:r>
            <a:endParaRPr lang="ro-MO" sz="2400" dirty="0" smtClean="0"/>
          </a:p>
          <a:p>
            <a:pPr marL="457200" indent="-457200"/>
            <a:r>
              <a:rPr lang="ro-MO" sz="2400" dirty="0" smtClean="0"/>
              <a:t>	</a:t>
            </a:r>
            <a:r>
              <a:rPr lang="en-US" sz="2400" dirty="0" err="1" smtClean="0"/>
              <a:t>key_value</a:t>
            </a:r>
            <a:r>
              <a:rPr lang="en-US" sz="2400" dirty="0" smtClean="0"/>
              <a:t>[2] = '56' </a:t>
            </a:r>
            <a:endParaRPr lang="ro-MO" sz="2400" dirty="0" smtClean="0"/>
          </a:p>
          <a:p>
            <a:pPr marL="457200" indent="-457200"/>
            <a:r>
              <a:rPr lang="ro-MO" sz="2400" dirty="0" smtClean="0"/>
              <a:t>	</a:t>
            </a:r>
            <a:r>
              <a:rPr lang="en-US" sz="2400" dirty="0" err="1" smtClean="0"/>
              <a:t>key_value</a:t>
            </a:r>
            <a:r>
              <a:rPr lang="en-US" sz="2400" dirty="0" smtClean="0"/>
              <a:t>[1] = '2' </a:t>
            </a:r>
            <a:endParaRPr lang="ro-MO" sz="2400" dirty="0" smtClean="0"/>
          </a:p>
          <a:p>
            <a:pPr marL="457200" indent="-457200"/>
            <a:r>
              <a:rPr lang="ro-MO" sz="2400" dirty="0" smtClean="0"/>
              <a:t>	</a:t>
            </a:r>
            <a:r>
              <a:rPr lang="en-US" sz="2400" dirty="0" err="1" smtClean="0"/>
              <a:t>key_value</a:t>
            </a:r>
            <a:r>
              <a:rPr lang="en-US" sz="2400" dirty="0" smtClean="0"/>
              <a:t>[4] = '12' </a:t>
            </a:r>
            <a:endParaRPr lang="ro-MO" sz="2400" dirty="0" smtClean="0"/>
          </a:p>
          <a:p>
            <a:pPr marL="457200" indent="-457200"/>
            <a:r>
              <a:rPr lang="ro-MO" sz="2400" dirty="0" smtClean="0"/>
              <a:t>	</a:t>
            </a:r>
            <a:r>
              <a:rPr lang="en-US" sz="2400" dirty="0" err="1" smtClean="0"/>
              <a:t>key_value</a:t>
            </a:r>
            <a:r>
              <a:rPr lang="en-US" sz="2400" dirty="0" smtClean="0"/>
              <a:t>[5] = '24' </a:t>
            </a:r>
            <a:endParaRPr lang="ro-MO" sz="2400" dirty="0" smtClean="0"/>
          </a:p>
          <a:p>
            <a:pPr marL="457200" indent="-457200"/>
            <a:r>
              <a:rPr lang="ro-MO" sz="2400" dirty="0" smtClean="0"/>
              <a:t>	</a:t>
            </a:r>
            <a:r>
              <a:rPr lang="en-US" sz="2400" dirty="0" err="1" smtClean="0"/>
              <a:t>key_value</a:t>
            </a:r>
            <a:r>
              <a:rPr lang="en-US" sz="2400" dirty="0" smtClean="0"/>
              <a:t>[6] = '18' </a:t>
            </a:r>
            <a:endParaRPr lang="ro-MO" sz="2400" dirty="0" smtClean="0"/>
          </a:p>
          <a:p>
            <a:pPr marL="457200" indent="-457200"/>
            <a:r>
              <a:rPr lang="ro-MO" sz="2400" dirty="0" smtClean="0"/>
              <a:t>	</a:t>
            </a:r>
            <a:r>
              <a:rPr lang="en-US" sz="2400" dirty="0" err="1" smtClean="0"/>
              <a:t>key_value</a:t>
            </a:r>
            <a:r>
              <a:rPr lang="en-US" sz="2400" dirty="0" smtClean="0"/>
              <a:t>[3] = '323‘</a:t>
            </a:r>
            <a:endParaRPr lang="ro-MO" sz="2400" dirty="0" smtClean="0"/>
          </a:p>
          <a:p>
            <a:pPr marL="457200" indent="-457200"/>
            <a:endParaRPr lang="ro-MO" sz="2400" b="1" dirty="0" smtClean="0"/>
          </a:p>
          <a:p>
            <a:pPr marL="457200" indent="-457200"/>
            <a:r>
              <a:rPr lang="en-US" sz="2400" b="1" dirty="0" smtClean="0"/>
              <a:t>Output:</a:t>
            </a:r>
            <a:r>
              <a:rPr lang="en-US" sz="2400" dirty="0" smtClean="0"/>
              <a:t> </a:t>
            </a:r>
            <a:r>
              <a:rPr lang="ru-RU" sz="2400" dirty="0" smtClean="0"/>
              <a:t> 2</a:t>
            </a:r>
            <a:r>
              <a:rPr lang="ro-MO" sz="2400" dirty="0" smtClean="0"/>
              <a:t> </a:t>
            </a:r>
            <a:r>
              <a:rPr lang="ru-RU" sz="2400" dirty="0" smtClean="0"/>
              <a:t> 56</a:t>
            </a:r>
            <a:r>
              <a:rPr lang="ro-MO" sz="2400" dirty="0" smtClean="0"/>
              <a:t>  </a:t>
            </a:r>
            <a:r>
              <a:rPr lang="ru-RU" sz="2400" dirty="0" smtClean="0"/>
              <a:t>323 </a:t>
            </a:r>
            <a:r>
              <a:rPr lang="ro-MO" sz="2400" dirty="0" smtClean="0"/>
              <a:t> </a:t>
            </a:r>
            <a:r>
              <a:rPr lang="ru-RU" sz="2400" dirty="0" smtClean="0"/>
              <a:t>24</a:t>
            </a:r>
            <a:r>
              <a:rPr lang="ro-MO" sz="2400" dirty="0" smtClean="0"/>
              <a:t> </a:t>
            </a:r>
            <a:r>
              <a:rPr lang="ru-RU" sz="2400" dirty="0" smtClean="0"/>
              <a:t> 12</a:t>
            </a:r>
            <a:r>
              <a:rPr lang="ro-MO" sz="2400" dirty="0" smtClean="0"/>
              <a:t> </a:t>
            </a:r>
            <a:r>
              <a:rPr lang="ru-RU" sz="2400" dirty="0" smtClean="0"/>
              <a:t> 18 </a:t>
            </a:r>
            <a:endParaRPr lang="ro-RO" sz="2200" b="1"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ro-MO" sz="3200" b="1" dirty="0" smtClean="0">
                <a:solidFill>
                  <a:schemeClr val="accent6">
                    <a:lumMod val="50000"/>
                  </a:schemeClr>
                </a:solidFill>
              </a:rPr>
              <a:t>PROBLEME: </a:t>
            </a:r>
            <a:r>
              <a:rPr lang="it-IT" sz="3200" b="1" dirty="0" smtClean="0">
                <a:solidFill>
                  <a:schemeClr val="accent6">
                    <a:lumMod val="50000"/>
                  </a:schemeClr>
                </a:solidFill>
              </a:rPr>
              <a:t>LUCRUL CU DICȚIONARE</a:t>
            </a:r>
            <a:r>
              <a:rPr lang="ro-MO" sz="3200" b="1" dirty="0" smtClean="0">
                <a:solidFill>
                  <a:schemeClr val="accent6">
                    <a:lumMod val="50000"/>
                  </a:schemeClr>
                </a:solidFill>
              </a:rPr>
              <a:t>LE</a:t>
            </a:r>
            <a:endParaRPr lang="it-IT" sz="3200" b="1" dirty="0">
              <a:solidFill>
                <a:schemeClr val="accent6">
                  <a:lumMod val="50000"/>
                </a:schemeClr>
              </a:solidFill>
            </a:endParaRPr>
          </a:p>
        </p:txBody>
      </p:sp>
      <p:sp>
        <p:nvSpPr>
          <p:cNvPr id="5" name="TextBox 4"/>
          <p:cNvSpPr txBox="1"/>
          <p:nvPr/>
        </p:nvSpPr>
        <p:spPr>
          <a:xfrm>
            <a:off x="0" y="685800"/>
            <a:ext cx="9144000" cy="6247864"/>
          </a:xfrm>
          <a:prstGeom prst="rect">
            <a:avLst/>
          </a:prstGeom>
          <a:noFill/>
        </p:spPr>
        <p:txBody>
          <a:bodyPr wrap="square" rtlCol="0">
            <a:spAutoFit/>
          </a:bodyPr>
          <a:lstStyle/>
          <a:p>
            <a:pPr marL="457200" indent="-457200"/>
            <a:r>
              <a:rPr lang="ro-RO" sz="2000" b="1" dirty="0" smtClean="0"/>
              <a:t>2. REZOLVARE</a:t>
            </a:r>
            <a:endParaRPr lang="ro-RO" sz="2000" b="1" dirty="0" smtClean="0"/>
          </a:p>
          <a:p>
            <a:pPr marL="457200" indent="-457200"/>
            <a:endParaRPr lang="ro-RO" sz="1900" b="1" dirty="0" smtClean="0"/>
          </a:p>
          <a:p>
            <a:pPr marL="457200" indent="-457200"/>
            <a:r>
              <a:rPr lang="en-US" sz="1900" b="1" dirty="0" smtClean="0"/>
              <a:t>def </a:t>
            </a:r>
            <a:r>
              <a:rPr lang="en-US" sz="1900" b="1" dirty="0" err="1" smtClean="0"/>
              <a:t>dictionairy</a:t>
            </a:r>
            <a:r>
              <a:rPr lang="en-US" sz="1900" b="1" dirty="0" smtClean="0"/>
              <a:t>():    </a:t>
            </a:r>
            <a:endParaRPr lang="ro-MO" sz="1900" b="1" dirty="0" smtClean="0"/>
          </a:p>
          <a:p>
            <a:pPr marL="457200" indent="-457200"/>
            <a:r>
              <a:rPr lang="ro-MO" sz="1900" b="1" dirty="0" smtClean="0"/>
              <a:t>	</a:t>
            </a:r>
            <a:r>
              <a:rPr lang="en-US" sz="1900" b="1" dirty="0" err="1" smtClean="0"/>
              <a:t>key_value</a:t>
            </a:r>
            <a:r>
              <a:rPr lang="en-US" sz="1900" b="1" dirty="0" smtClean="0"/>
              <a:t> = {}        </a:t>
            </a:r>
            <a:endParaRPr lang="ro-MO" sz="1900" b="1" dirty="0" smtClean="0"/>
          </a:p>
          <a:p>
            <a:pPr marL="457200" indent="-457200"/>
            <a:r>
              <a:rPr lang="ro-MO" sz="1900" b="1" dirty="0" smtClean="0"/>
              <a:t>	</a:t>
            </a:r>
            <a:r>
              <a:rPr lang="en-US" sz="1900" b="1" dirty="0" err="1" smtClean="0"/>
              <a:t>key_value</a:t>
            </a:r>
            <a:r>
              <a:rPr lang="en-US" sz="1900" b="1" dirty="0" smtClean="0"/>
              <a:t>[2] = 56    </a:t>
            </a:r>
            <a:endParaRPr lang="ro-MO" sz="1900" b="1" dirty="0" smtClean="0"/>
          </a:p>
          <a:p>
            <a:pPr marL="457200" indent="-457200"/>
            <a:r>
              <a:rPr lang="ro-MO" sz="1900" b="1" dirty="0" smtClean="0"/>
              <a:t>	</a:t>
            </a:r>
            <a:r>
              <a:rPr lang="en-US" sz="1900" b="1" dirty="0" err="1" smtClean="0"/>
              <a:t>key_value</a:t>
            </a:r>
            <a:r>
              <a:rPr lang="en-US" sz="1900" b="1" dirty="0" smtClean="0"/>
              <a:t>[1] = 2    </a:t>
            </a:r>
            <a:endParaRPr lang="ro-MO" sz="1900" b="1" dirty="0" smtClean="0"/>
          </a:p>
          <a:p>
            <a:pPr marL="457200" indent="-457200"/>
            <a:r>
              <a:rPr lang="ro-MO" sz="1900" b="1" dirty="0" smtClean="0"/>
              <a:t>	</a:t>
            </a:r>
            <a:r>
              <a:rPr lang="en-US" sz="1900" b="1" dirty="0" err="1" smtClean="0"/>
              <a:t>key_value</a:t>
            </a:r>
            <a:r>
              <a:rPr lang="en-US" sz="1900" b="1" dirty="0" smtClean="0"/>
              <a:t>[5] = 12    </a:t>
            </a:r>
            <a:endParaRPr lang="ro-MO" sz="1900" b="1" dirty="0" smtClean="0"/>
          </a:p>
          <a:p>
            <a:pPr marL="457200" indent="-457200"/>
            <a:r>
              <a:rPr lang="ro-MO" sz="1900" b="1" dirty="0" smtClean="0"/>
              <a:t>	</a:t>
            </a:r>
            <a:r>
              <a:rPr lang="en-US" sz="1900" b="1" dirty="0" err="1" smtClean="0"/>
              <a:t>key_value</a:t>
            </a:r>
            <a:r>
              <a:rPr lang="en-US" sz="1900" b="1" dirty="0" smtClean="0"/>
              <a:t>[4] = 24    </a:t>
            </a:r>
            <a:endParaRPr lang="ro-MO" sz="1900" b="1" dirty="0" smtClean="0"/>
          </a:p>
          <a:p>
            <a:pPr marL="457200" indent="-457200"/>
            <a:r>
              <a:rPr lang="ro-MO" sz="1900" b="1" dirty="0" smtClean="0"/>
              <a:t>	</a:t>
            </a:r>
            <a:r>
              <a:rPr lang="en-US" sz="1900" b="1" dirty="0" err="1" smtClean="0"/>
              <a:t>ey_value</a:t>
            </a:r>
            <a:r>
              <a:rPr lang="en-US" sz="1900" b="1" dirty="0" smtClean="0"/>
              <a:t>[6] = 18    </a:t>
            </a:r>
            <a:endParaRPr lang="ro-MO" sz="1900" b="1" dirty="0" smtClean="0"/>
          </a:p>
          <a:p>
            <a:pPr marL="457200" indent="-457200"/>
            <a:r>
              <a:rPr lang="ro-MO" sz="1900" b="1" dirty="0" smtClean="0"/>
              <a:t>	</a:t>
            </a:r>
            <a:r>
              <a:rPr lang="en-US" sz="1900" b="1" dirty="0" err="1" smtClean="0"/>
              <a:t>key_value</a:t>
            </a:r>
            <a:r>
              <a:rPr lang="en-US" sz="1900" b="1" dirty="0" smtClean="0"/>
              <a:t>[3] = 323        </a:t>
            </a:r>
            <a:endParaRPr lang="ro-MO" sz="1900" b="1" dirty="0" smtClean="0"/>
          </a:p>
          <a:p>
            <a:pPr marL="457200" indent="-457200"/>
            <a:endParaRPr lang="ro-MO" sz="1900" b="1" dirty="0" smtClean="0"/>
          </a:p>
          <a:p>
            <a:pPr marL="457200" indent="-457200"/>
            <a:r>
              <a:rPr lang="ro-MO" sz="1900" b="1" dirty="0" smtClean="0"/>
              <a:t>	</a:t>
            </a:r>
            <a:r>
              <a:rPr lang="en-US" sz="1900" b="1" dirty="0" smtClean="0"/>
              <a:t>print("</a:t>
            </a:r>
            <a:r>
              <a:rPr lang="en-US" sz="1900" b="1" dirty="0" err="1" smtClean="0"/>
              <a:t>key_value</a:t>
            </a:r>
            <a:r>
              <a:rPr lang="en-US" sz="1900" b="1" dirty="0" smtClean="0"/>
              <a:t>", </a:t>
            </a:r>
            <a:r>
              <a:rPr lang="en-US" sz="1900" b="1" dirty="0" err="1" smtClean="0"/>
              <a:t>key_value</a:t>
            </a:r>
            <a:r>
              <a:rPr lang="en-US" sz="1900" b="1" dirty="0" smtClean="0"/>
              <a:t>)     </a:t>
            </a:r>
            <a:endParaRPr lang="ro-MO" sz="1900" b="1" dirty="0" smtClean="0"/>
          </a:p>
          <a:p>
            <a:pPr marL="457200" indent="-457200"/>
            <a:endParaRPr lang="ro-MO" sz="1900" b="1" dirty="0" smtClean="0"/>
          </a:p>
          <a:p>
            <a:pPr marL="457200" indent="-457200"/>
            <a:r>
              <a:rPr lang="ro-MO" sz="1900" b="1" dirty="0" smtClean="0"/>
              <a:t>	</a:t>
            </a:r>
            <a:r>
              <a:rPr lang="en-US" sz="1900" b="1" dirty="0" smtClean="0"/>
              <a:t>for </a:t>
            </a:r>
            <a:r>
              <a:rPr lang="en-US" sz="1900" b="1" dirty="0" err="1" smtClean="0"/>
              <a:t>i</a:t>
            </a:r>
            <a:r>
              <a:rPr lang="en-US" sz="1900" b="1" dirty="0" smtClean="0"/>
              <a:t> in sorted(</a:t>
            </a:r>
            <a:r>
              <a:rPr lang="en-US" sz="1900" b="1" dirty="0" err="1" smtClean="0"/>
              <a:t>key_value</a:t>
            </a:r>
            <a:r>
              <a:rPr lang="en-US" sz="1900" b="1" dirty="0" smtClean="0"/>
              <a:t>):        </a:t>
            </a:r>
            <a:endParaRPr lang="ro-MO" sz="1900" b="1" dirty="0" smtClean="0"/>
          </a:p>
          <a:p>
            <a:pPr marL="457200" indent="-457200"/>
            <a:r>
              <a:rPr lang="ro-MO" sz="1900" b="1" dirty="0" smtClean="0"/>
              <a:t>	</a:t>
            </a:r>
            <a:r>
              <a:rPr lang="ro-MO" sz="1900" b="1" dirty="0" smtClean="0"/>
              <a:t>	</a:t>
            </a:r>
            <a:r>
              <a:rPr lang="en-US" sz="1900" b="1" dirty="0" smtClean="0"/>
              <a:t>print((</a:t>
            </a:r>
            <a:r>
              <a:rPr lang="en-US" sz="1900" b="1" dirty="0" err="1" smtClean="0"/>
              <a:t>key_value</a:t>
            </a:r>
            <a:r>
              <a:rPr lang="en-US" sz="1900" b="1" dirty="0" smtClean="0"/>
              <a:t>[</a:t>
            </a:r>
            <a:r>
              <a:rPr lang="en-US" sz="1900" b="1" dirty="0" err="1" smtClean="0"/>
              <a:t>i</a:t>
            </a:r>
            <a:r>
              <a:rPr lang="en-US" sz="1900" b="1" dirty="0" smtClean="0"/>
              <a:t>]), end=" </a:t>
            </a:r>
            <a:r>
              <a:rPr lang="en-US" sz="1900" b="1" dirty="0" smtClean="0"/>
              <a:t>")</a:t>
            </a:r>
            <a:endParaRPr lang="ro-MO" sz="1900" b="1" dirty="0" smtClean="0"/>
          </a:p>
          <a:p>
            <a:pPr marL="457200" indent="-457200"/>
            <a:endParaRPr lang="ro-MO" sz="1900" b="1" dirty="0" smtClean="0"/>
          </a:p>
          <a:p>
            <a:pPr marL="457200" indent="-457200"/>
            <a:r>
              <a:rPr lang="en-US" sz="1900" b="1" dirty="0" smtClean="0"/>
              <a:t>def </a:t>
            </a:r>
            <a:r>
              <a:rPr lang="en-US" sz="1900" b="1" dirty="0" smtClean="0"/>
              <a:t>main():   </a:t>
            </a:r>
            <a:endParaRPr lang="ro-MO" sz="1900" b="1" dirty="0" smtClean="0"/>
          </a:p>
          <a:p>
            <a:pPr marL="457200" indent="-457200"/>
            <a:r>
              <a:rPr lang="ro-MO" sz="1900" b="1" dirty="0" smtClean="0"/>
              <a:t>	</a:t>
            </a:r>
            <a:r>
              <a:rPr lang="en-US" sz="1900" b="1" dirty="0" err="1" smtClean="0"/>
              <a:t>dictionairy</a:t>
            </a:r>
            <a:r>
              <a:rPr lang="en-US" sz="1900" b="1" dirty="0" smtClean="0"/>
              <a:t>() </a:t>
            </a:r>
            <a:endParaRPr lang="ro-MO" sz="1900" b="1" dirty="0" smtClean="0"/>
          </a:p>
          <a:p>
            <a:pPr marL="457200" indent="-457200"/>
            <a:endParaRPr lang="ro-MO" sz="1900" b="1" dirty="0" smtClean="0"/>
          </a:p>
          <a:p>
            <a:pPr marL="457200" indent="-457200"/>
            <a:r>
              <a:rPr lang="en-US" sz="1900" b="1" dirty="0" smtClean="0"/>
              <a:t>if __name__ == "__main__":    </a:t>
            </a:r>
            <a:endParaRPr lang="ro-MO" sz="1900" b="1" dirty="0" smtClean="0"/>
          </a:p>
          <a:p>
            <a:pPr marL="457200" indent="-457200"/>
            <a:r>
              <a:rPr lang="ro-MO" sz="1900" b="1" dirty="0" smtClean="0"/>
              <a:t>		</a:t>
            </a:r>
            <a:r>
              <a:rPr lang="en-US" sz="1900" b="1" dirty="0" smtClean="0"/>
              <a:t>main()</a:t>
            </a:r>
            <a:endParaRPr lang="ro-RO" sz="1900" b="1" dirty="0" smtClean="0"/>
          </a:p>
        </p:txBody>
      </p:sp>
      <p:pic>
        <p:nvPicPr>
          <p:cNvPr id="2050" name="Picture 2"/>
          <p:cNvPicPr>
            <a:picLocks noChangeAspect="1" noChangeArrowheads="1"/>
          </p:cNvPicPr>
          <p:nvPr/>
        </p:nvPicPr>
        <p:blipFill>
          <a:blip r:embed="rId2" cstate="print"/>
          <a:srcRect/>
          <a:stretch>
            <a:fillRect/>
          </a:stretch>
        </p:blipFill>
        <p:spPr bwMode="auto">
          <a:xfrm>
            <a:off x="5181600" y="762000"/>
            <a:ext cx="3644900" cy="469265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4114800" y="5469340"/>
            <a:ext cx="5029200" cy="138866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ro-MO" sz="3200" b="1" dirty="0" smtClean="0">
                <a:solidFill>
                  <a:schemeClr val="accent6">
                    <a:lumMod val="50000"/>
                  </a:schemeClr>
                </a:solidFill>
              </a:rPr>
              <a:t>REZOLVĂ INDEPENDENT: </a:t>
            </a:r>
            <a:r>
              <a:rPr lang="it-IT" sz="3200" b="1" dirty="0" smtClean="0">
                <a:solidFill>
                  <a:schemeClr val="accent6">
                    <a:lumMod val="50000"/>
                  </a:schemeClr>
                </a:solidFill>
              </a:rPr>
              <a:t>LUCRUL CU DICȚIONARE</a:t>
            </a:r>
            <a:r>
              <a:rPr lang="ro-MO" sz="3200" b="1" dirty="0" smtClean="0">
                <a:solidFill>
                  <a:schemeClr val="accent6">
                    <a:lumMod val="50000"/>
                  </a:schemeClr>
                </a:solidFill>
              </a:rPr>
              <a:t>LE</a:t>
            </a:r>
            <a:endParaRPr lang="it-IT" sz="3200" b="1" dirty="0">
              <a:solidFill>
                <a:schemeClr val="accent6">
                  <a:lumMod val="50000"/>
                </a:schemeClr>
              </a:solidFill>
            </a:endParaRPr>
          </a:p>
        </p:txBody>
      </p:sp>
      <p:sp>
        <p:nvSpPr>
          <p:cNvPr id="5" name="TextBox 4"/>
          <p:cNvSpPr txBox="1"/>
          <p:nvPr/>
        </p:nvSpPr>
        <p:spPr>
          <a:xfrm>
            <a:off x="0" y="685800"/>
            <a:ext cx="9144000" cy="5139869"/>
          </a:xfrm>
          <a:prstGeom prst="rect">
            <a:avLst/>
          </a:prstGeom>
          <a:noFill/>
        </p:spPr>
        <p:txBody>
          <a:bodyPr wrap="square" rtlCol="0">
            <a:spAutoFit/>
          </a:bodyPr>
          <a:lstStyle/>
          <a:p>
            <a:pPr marL="457200" indent="-457200"/>
            <a:r>
              <a:rPr lang="ro-MO" sz="2200" b="1" dirty="0" smtClean="0"/>
              <a:t>3.</a:t>
            </a:r>
            <a:r>
              <a:rPr lang="ro-MO" sz="2200" b="1" dirty="0" smtClean="0"/>
              <a:t> </a:t>
            </a:r>
            <a:r>
              <a:rPr lang="vi-VN" sz="2200" b="1" dirty="0" smtClean="0"/>
              <a:t>Creați </a:t>
            </a:r>
            <a:r>
              <a:rPr lang="vi-VN" sz="2200" b="1" dirty="0" smtClean="0"/>
              <a:t>un dicționar și afișați-i cheile de listă în ordine </a:t>
            </a:r>
            <a:r>
              <a:rPr lang="ro-MO" sz="2200" b="1" dirty="0" smtClean="0"/>
              <a:t>crescătoare</a:t>
            </a:r>
            <a:r>
              <a:rPr lang="vi-VN" sz="2200" b="1" dirty="0" smtClean="0"/>
              <a:t>.</a:t>
            </a:r>
            <a:endParaRPr lang="ro-MO" sz="2200" b="1" dirty="0" smtClean="0"/>
          </a:p>
          <a:p>
            <a:pPr marL="457200" indent="-457200"/>
            <a:r>
              <a:rPr lang="ro-MO" sz="2200" b="1" dirty="0" smtClean="0"/>
              <a:t>	</a:t>
            </a:r>
            <a:r>
              <a:rPr lang="ro-MO" sz="2200" b="1" dirty="0" smtClean="0"/>
              <a:t>Afişaţi valorile </a:t>
            </a:r>
            <a:r>
              <a:rPr lang="vi-VN" sz="2200" b="1" dirty="0" smtClean="0"/>
              <a:t>sortate în ordine </a:t>
            </a:r>
            <a:r>
              <a:rPr lang="ro-MO" sz="2200" b="1" dirty="0" smtClean="0"/>
              <a:t>crescătoare</a:t>
            </a:r>
            <a:r>
              <a:rPr lang="vi-VN" sz="2200" b="1" dirty="0" smtClean="0"/>
              <a:t> după </a:t>
            </a:r>
            <a:r>
              <a:rPr lang="ro-MO" sz="2200" b="1" dirty="0" smtClean="0"/>
              <a:t>valoare</a:t>
            </a:r>
            <a:r>
              <a:rPr lang="vi-VN" sz="2200" b="1" dirty="0" smtClean="0"/>
              <a:t>.</a:t>
            </a:r>
            <a:endParaRPr lang="ro-MO" sz="2200" b="1" dirty="0" smtClean="0"/>
          </a:p>
          <a:p>
            <a:pPr marL="457200" indent="-457200"/>
            <a:endParaRPr lang="ro-MO" sz="2200" b="1" dirty="0" smtClean="0"/>
          </a:p>
          <a:p>
            <a:pPr marL="457200" indent="-457200"/>
            <a:r>
              <a:rPr lang="ro-MO" sz="2200" b="1" dirty="0" smtClean="0"/>
              <a:t>Exemplu:</a:t>
            </a:r>
          </a:p>
          <a:p>
            <a:pPr marL="457200" indent="-457200"/>
            <a:endParaRPr lang="ro-MO" sz="2400" b="1" dirty="0" smtClean="0"/>
          </a:p>
          <a:p>
            <a:pPr marL="457200" indent="-457200"/>
            <a:r>
              <a:rPr lang="en-US" sz="2400" b="1" dirty="0" smtClean="0"/>
              <a:t>Input:</a:t>
            </a:r>
            <a:r>
              <a:rPr lang="en-US" sz="2400" dirty="0" smtClean="0"/>
              <a:t> </a:t>
            </a:r>
            <a:endParaRPr lang="ro-MO" sz="2400" dirty="0" smtClean="0"/>
          </a:p>
          <a:p>
            <a:pPr marL="457200" indent="-457200"/>
            <a:r>
              <a:rPr lang="ro-MO" sz="2400" dirty="0" smtClean="0"/>
              <a:t>	</a:t>
            </a:r>
            <a:r>
              <a:rPr lang="en-US" sz="2400" dirty="0" err="1" smtClean="0"/>
              <a:t>key_value</a:t>
            </a:r>
            <a:r>
              <a:rPr lang="en-US" sz="2400" dirty="0" smtClean="0"/>
              <a:t>[2] = '56' </a:t>
            </a:r>
            <a:endParaRPr lang="ro-MO" sz="2400" dirty="0" smtClean="0"/>
          </a:p>
          <a:p>
            <a:pPr marL="457200" indent="-457200"/>
            <a:r>
              <a:rPr lang="ro-MO" sz="2400" dirty="0" smtClean="0"/>
              <a:t>	</a:t>
            </a:r>
            <a:r>
              <a:rPr lang="en-US" sz="2400" dirty="0" err="1" smtClean="0"/>
              <a:t>key_value</a:t>
            </a:r>
            <a:r>
              <a:rPr lang="en-US" sz="2400" dirty="0" smtClean="0"/>
              <a:t>[1] = '2' </a:t>
            </a:r>
            <a:endParaRPr lang="ro-MO" sz="2400" dirty="0" smtClean="0"/>
          </a:p>
          <a:p>
            <a:pPr marL="457200" indent="-457200"/>
            <a:r>
              <a:rPr lang="ro-MO" sz="2400" dirty="0" smtClean="0"/>
              <a:t>	</a:t>
            </a:r>
            <a:r>
              <a:rPr lang="en-US" sz="2400" dirty="0" err="1" smtClean="0"/>
              <a:t>key_value</a:t>
            </a:r>
            <a:r>
              <a:rPr lang="en-US" sz="2400" dirty="0" smtClean="0"/>
              <a:t>[4] = '12' </a:t>
            </a:r>
            <a:endParaRPr lang="ro-MO" sz="2400" dirty="0" smtClean="0"/>
          </a:p>
          <a:p>
            <a:pPr marL="457200" indent="-457200"/>
            <a:r>
              <a:rPr lang="ro-MO" sz="2400" dirty="0" smtClean="0"/>
              <a:t>	</a:t>
            </a:r>
            <a:r>
              <a:rPr lang="en-US" sz="2400" dirty="0" err="1" smtClean="0"/>
              <a:t>key_value</a:t>
            </a:r>
            <a:r>
              <a:rPr lang="en-US" sz="2400" dirty="0" smtClean="0"/>
              <a:t>[5] = '24' </a:t>
            </a:r>
            <a:endParaRPr lang="ro-MO" sz="2400" dirty="0" smtClean="0"/>
          </a:p>
          <a:p>
            <a:pPr marL="457200" indent="-457200"/>
            <a:r>
              <a:rPr lang="ro-MO" sz="2400" dirty="0" smtClean="0"/>
              <a:t>	</a:t>
            </a:r>
            <a:r>
              <a:rPr lang="en-US" sz="2400" dirty="0" err="1" smtClean="0"/>
              <a:t>key_value</a:t>
            </a:r>
            <a:r>
              <a:rPr lang="en-US" sz="2400" dirty="0" smtClean="0"/>
              <a:t>[6] = '18' </a:t>
            </a:r>
            <a:endParaRPr lang="ro-MO" sz="2400" dirty="0" smtClean="0"/>
          </a:p>
          <a:p>
            <a:pPr marL="457200" indent="-457200"/>
            <a:r>
              <a:rPr lang="ro-MO" sz="2400" dirty="0" smtClean="0"/>
              <a:t>	</a:t>
            </a:r>
            <a:r>
              <a:rPr lang="en-US" sz="2400" dirty="0" err="1" smtClean="0"/>
              <a:t>key_value</a:t>
            </a:r>
            <a:r>
              <a:rPr lang="en-US" sz="2400" dirty="0" smtClean="0"/>
              <a:t>[3] = '323‘</a:t>
            </a:r>
            <a:endParaRPr lang="ro-MO" sz="2400" dirty="0" smtClean="0"/>
          </a:p>
          <a:p>
            <a:pPr marL="457200" indent="-457200"/>
            <a:endParaRPr lang="ro-MO" sz="2400" b="1" dirty="0" smtClean="0"/>
          </a:p>
          <a:p>
            <a:pPr marL="457200" indent="-457200"/>
            <a:r>
              <a:rPr lang="en-US" sz="2400" b="1" dirty="0" smtClean="0"/>
              <a:t>Output:</a:t>
            </a:r>
            <a:r>
              <a:rPr lang="en-US" sz="2400" dirty="0" smtClean="0"/>
              <a:t> </a:t>
            </a:r>
            <a:r>
              <a:rPr lang="ru-RU" sz="2400" dirty="0" smtClean="0"/>
              <a:t> 2</a:t>
            </a:r>
            <a:r>
              <a:rPr lang="ro-MO" sz="2400" dirty="0" smtClean="0"/>
              <a:t>   </a:t>
            </a:r>
            <a:r>
              <a:rPr lang="ru-RU" sz="2400" dirty="0" smtClean="0"/>
              <a:t> </a:t>
            </a:r>
            <a:r>
              <a:rPr lang="ro-MO" sz="2400" dirty="0" smtClean="0"/>
              <a:t>12   18   24   </a:t>
            </a:r>
            <a:r>
              <a:rPr lang="ru-RU" sz="2400" dirty="0" smtClean="0"/>
              <a:t>56</a:t>
            </a:r>
            <a:r>
              <a:rPr lang="ro-MO" sz="2400" dirty="0" smtClean="0"/>
              <a:t>  </a:t>
            </a:r>
            <a:r>
              <a:rPr lang="ru-RU" sz="2400" dirty="0" smtClean="0"/>
              <a:t>323</a:t>
            </a:r>
            <a:endParaRPr lang="ro-RO" sz="2200" b="1"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200" y="0"/>
            <a:ext cx="8991600" cy="914400"/>
          </a:xfrm>
        </p:spPr>
        <p:txBody>
          <a:bodyPr>
            <a:normAutofit/>
          </a:bodyPr>
          <a:lstStyle/>
          <a:p>
            <a:r>
              <a:rPr lang="ro-MO" sz="3200" b="1" dirty="0" smtClean="0">
                <a:solidFill>
                  <a:schemeClr val="accent6">
                    <a:lumMod val="50000"/>
                  </a:schemeClr>
                </a:solidFill>
              </a:rPr>
              <a:t>REZOLVĂ INDEPENDENT: </a:t>
            </a:r>
            <a:r>
              <a:rPr lang="it-IT" sz="3200" b="1" dirty="0" smtClean="0">
                <a:solidFill>
                  <a:schemeClr val="accent6">
                    <a:lumMod val="50000"/>
                  </a:schemeClr>
                </a:solidFill>
              </a:rPr>
              <a:t>LUCRUL CU DICȚIONARE</a:t>
            </a:r>
            <a:r>
              <a:rPr lang="ro-MO" sz="3200" b="1" dirty="0" smtClean="0">
                <a:solidFill>
                  <a:schemeClr val="accent6">
                    <a:lumMod val="50000"/>
                  </a:schemeClr>
                </a:solidFill>
              </a:rPr>
              <a:t>LE</a:t>
            </a:r>
            <a:endParaRPr lang="it-IT" sz="3200" b="1" dirty="0">
              <a:solidFill>
                <a:schemeClr val="accent6">
                  <a:lumMod val="50000"/>
                </a:schemeClr>
              </a:solidFill>
            </a:endParaRPr>
          </a:p>
        </p:txBody>
      </p:sp>
      <p:sp>
        <p:nvSpPr>
          <p:cNvPr id="5" name="TextBox 4"/>
          <p:cNvSpPr txBox="1"/>
          <p:nvPr/>
        </p:nvSpPr>
        <p:spPr>
          <a:xfrm>
            <a:off x="0" y="685800"/>
            <a:ext cx="9144000" cy="5139869"/>
          </a:xfrm>
          <a:prstGeom prst="rect">
            <a:avLst/>
          </a:prstGeom>
          <a:noFill/>
        </p:spPr>
        <p:txBody>
          <a:bodyPr wrap="square" rtlCol="0">
            <a:spAutoFit/>
          </a:bodyPr>
          <a:lstStyle/>
          <a:p>
            <a:pPr marL="457200" indent="-457200"/>
            <a:r>
              <a:rPr lang="ro-MO" sz="2200" b="1" dirty="0" smtClean="0"/>
              <a:t>3.</a:t>
            </a:r>
            <a:r>
              <a:rPr lang="ro-MO" sz="2200" b="1" dirty="0" smtClean="0"/>
              <a:t> </a:t>
            </a:r>
            <a:r>
              <a:rPr lang="vi-VN" sz="2200" b="1" dirty="0" smtClean="0"/>
              <a:t>Creați </a:t>
            </a:r>
            <a:r>
              <a:rPr lang="vi-VN" sz="2200" b="1" dirty="0" smtClean="0"/>
              <a:t>un dicționar și afișați-i cheile de listă în ordine </a:t>
            </a:r>
            <a:r>
              <a:rPr lang="ro-MO" sz="2200" b="1" dirty="0" smtClean="0"/>
              <a:t>crescătoare</a:t>
            </a:r>
            <a:r>
              <a:rPr lang="vi-VN" sz="2200" b="1" dirty="0" smtClean="0"/>
              <a:t>.</a:t>
            </a:r>
            <a:endParaRPr lang="ro-MO" sz="2200" b="1" dirty="0" smtClean="0"/>
          </a:p>
          <a:p>
            <a:pPr marL="457200" indent="-457200"/>
            <a:r>
              <a:rPr lang="ro-MO" sz="2200" b="1" dirty="0" smtClean="0"/>
              <a:t>	</a:t>
            </a:r>
            <a:r>
              <a:rPr lang="ro-MO" sz="2200" b="1" dirty="0" smtClean="0"/>
              <a:t>Afişaţi valorile </a:t>
            </a:r>
            <a:r>
              <a:rPr lang="vi-VN" sz="2200" b="1" dirty="0" smtClean="0"/>
              <a:t>sortate în ordine </a:t>
            </a:r>
            <a:r>
              <a:rPr lang="ro-MO" sz="2200" b="1" dirty="0" smtClean="0"/>
              <a:t>crescătoare</a:t>
            </a:r>
            <a:r>
              <a:rPr lang="vi-VN" sz="2200" b="1" dirty="0" smtClean="0"/>
              <a:t> după </a:t>
            </a:r>
            <a:r>
              <a:rPr lang="ro-MO" sz="2200" b="1" dirty="0" smtClean="0"/>
              <a:t>cheie şi valoare</a:t>
            </a:r>
            <a:r>
              <a:rPr lang="vi-VN" sz="2200" b="1" dirty="0" smtClean="0"/>
              <a:t>.</a:t>
            </a:r>
            <a:endParaRPr lang="ro-MO" sz="2200" b="1" dirty="0" smtClean="0"/>
          </a:p>
          <a:p>
            <a:pPr marL="457200" indent="-457200"/>
            <a:endParaRPr lang="ro-MO" sz="2200" b="1" dirty="0" smtClean="0"/>
          </a:p>
          <a:p>
            <a:pPr marL="457200" indent="-457200"/>
            <a:r>
              <a:rPr lang="ro-MO" sz="2200" b="1" dirty="0" smtClean="0"/>
              <a:t>Exemplu:</a:t>
            </a:r>
          </a:p>
          <a:p>
            <a:pPr marL="457200" indent="-457200"/>
            <a:endParaRPr lang="ro-MO" sz="2400" b="1" dirty="0" smtClean="0"/>
          </a:p>
          <a:p>
            <a:pPr marL="457200" indent="-457200"/>
            <a:r>
              <a:rPr lang="en-US" sz="2400" b="1" dirty="0" smtClean="0"/>
              <a:t>Input:</a:t>
            </a:r>
            <a:r>
              <a:rPr lang="en-US" sz="2400" dirty="0" smtClean="0"/>
              <a:t> </a:t>
            </a:r>
            <a:endParaRPr lang="ro-MO" sz="2400" dirty="0" smtClean="0"/>
          </a:p>
          <a:p>
            <a:pPr marL="457200" indent="-457200"/>
            <a:r>
              <a:rPr lang="ro-MO" sz="2400" dirty="0" smtClean="0"/>
              <a:t>	</a:t>
            </a:r>
            <a:r>
              <a:rPr lang="en-US" sz="2400" dirty="0" err="1" smtClean="0"/>
              <a:t>key_value</a:t>
            </a:r>
            <a:r>
              <a:rPr lang="en-US" sz="2400" dirty="0" smtClean="0"/>
              <a:t>[2] = '56' </a:t>
            </a:r>
            <a:endParaRPr lang="ro-MO" sz="2400" dirty="0" smtClean="0"/>
          </a:p>
          <a:p>
            <a:pPr marL="457200" indent="-457200"/>
            <a:r>
              <a:rPr lang="ro-MO" sz="2400" dirty="0" smtClean="0"/>
              <a:t>	</a:t>
            </a:r>
            <a:r>
              <a:rPr lang="en-US" sz="2400" dirty="0" err="1" smtClean="0"/>
              <a:t>key_value</a:t>
            </a:r>
            <a:r>
              <a:rPr lang="en-US" sz="2400" dirty="0" smtClean="0"/>
              <a:t>[1] = '2' </a:t>
            </a:r>
            <a:endParaRPr lang="ro-MO" sz="2400" dirty="0" smtClean="0"/>
          </a:p>
          <a:p>
            <a:pPr marL="457200" indent="-457200"/>
            <a:r>
              <a:rPr lang="ro-MO" sz="2400" dirty="0" smtClean="0"/>
              <a:t>	</a:t>
            </a:r>
            <a:r>
              <a:rPr lang="en-US" sz="2400" dirty="0" err="1" smtClean="0"/>
              <a:t>key_value</a:t>
            </a:r>
            <a:r>
              <a:rPr lang="en-US" sz="2400" dirty="0" smtClean="0"/>
              <a:t>[4] = '12' </a:t>
            </a:r>
            <a:endParaRPr lang="ro-MO" sz="2400" dirty="0" smtClean="0"/>
          </a:p>
          <a:p>
            <a:pPr marL="457200" indent="-457200"/>
            <a:r>
              <a:rPr lang="ro-MO" sz="2400" dirty="0" smtClean="0"/>
              <a:t>	</a:t>
            </a:r>
            <a:r>
              <a:rPr lang="en-US" sz="2400" dirty="0" err="1" smtClean="0"/>
              <a:t>key_value</a:t>
            </a:r>
            <a:r>
              <a:rPr lang="en-US" sz="2400" dirty="0" smtClean="0"/>
              <a:t>[5] = '24' </a:t>
            </a:r>
            <a:endParaRPr lang="ro-MO" sz="2400" dirty="0" smtClean="0"/>
          </a:p>
          <a:p>
            <a:pPr marL="457200" indent="-457200"/>
            <a:r>
              <a:rPr lang="ro-MO" sz="2400" dirty="0" smtClean="0"/>
              <a:t>	</a:t>
            </a:r>
            <a:r>
              <a:rPr lang="en-US" sz="2400" dirty="0" err="1" smtClean="0"/>
              <a:t>key_value</a:t>
            </a:r>
            <a:r>
              <a:rPr lang="en-US" sz="2400" dirty="0" smtClean="0"/>
              <a:t>[6] = '18' </a:t>
            </a:r>
            <a:endParaRPr lang="ro-MO" sz="2400" dirty="0" smtClean="0"/>
          </a:p>
          <a:p>
            <a:pPr marL="457200" indent="-457200"/>
            <a:r>
              <a:rPr lang="ro-MO" sz="2400" dirty="0" smtClean="0"/>
              <a:t>	</a:t>
            </a:r>
            <a:r>
              <a:rPr lang="en-US" sz="2400" dirty="0" err="1" smtClean="0"/>
              <a:t>key_value</a:t>
            </a:r>
            <a:r>
              <a:rPr lang="en-US" sz="2400" dirty="0" smtClean="0"/>
              <a:t>[3] = '323‘</a:t>
            </a:r>
            <a:endParaRPr lang="ro-MO" sz="2400" dirty="0" smtClean="0"/>
          </a:p>
          <a:p>
            <a:pPr marL="457200" indent="-457200"/>
            <a:endParaRPr lang="ro-MO" sz="2400" b="1" dirty="0" smtClean="0"/>
          </a:p>
          <a:p>
            <a:pPr marL="457200" indent="-457200"/>
            <a:r>
              <a:rPr lang="en-US" sz="2400" b="1" dirty="0" smtClean="0"/>
              <a:t>Output:</a:t>
            </a:r>
            <a:r>
              <a:rPr lang="en-US" sz="2400" dirty="0" smtClean="0"/>
              <a:t> </a:t>
            </a:r>
            <a:r>
              <a:rPr lang="ru-RU" sz="2400" dirty="0" smtClean="0"/>
              <a:t>[(1, 2), (5, 12), (6, 18), (4, 24), (2, 56), (3, 323)]</a:t>
            </a:r>
            <a:endParaRPr lang="ro-RO" sz="2200" b="1" dirty="0" smtClean="0"/>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3179</TotalTime>
  <Words>369</Words>
  <Application>Microsoft Office PowerPoint</Application>
  <PresentationFormat>Экран (4:3)</PresentationFormat>
  <Paragraphs>176</Paragraphs>
  <Slides>18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18</vt:i4>
      </vt:variant>
    </vt:vector>
  </HeadingPairs>
  <TitlesOfParts>
    <vt:vector size="19" baseType="lpstr">
      <vt:lpstr>Тема Office</vt:lpstr>
      <vt:lpstr>DICȚIONARE în PYTHON </vt:lpstr>
      <vt:lpstr>CE ESTE UN DICȚIONAR?</vt:lpstr>
      <vt:lpstr>LISTE ȘI TUPLURI  LA CREAREA UNUI DICȚIONAR</vt:lpstr>
      <vt:lpstr>METODA GET()</vt:lpstr>
      <vt:lpstr>MODIFICAREA ȘI ADĂUGAREA PERECHILOR DE DATE</vt:lpstr>
      <vt:lpstr>REVENIM LA FROZENSET... (OPȚIONAL)</vt:lpstr>
      <vt:lpstr>EXERSĂM: CUM SĂ CREEZI UN DICȚIONAR PYTHON</vt:lpstr>
      <vt:lpstr>EXERSĂM: CUM SĂ FACI REFERIRE LA O ANUMITĂ CHEIE</vt:lpstr>
      <vt:lpstr>EXERSĂM: ȘTERGE ȘI ACTUALIZEAZĂ ELEMENTE ÎNTR-UN DICȚIONAR PYTHON</vt:lpstr>
      <vt:lpstr>EXERSĂM: CREAREA UNEI LISTE DE DICȚIONARE</vt:lpstr>
      <vt:lpstr>FUNCȚII UTILE ȊN LUCRUL CU DICȚIONARE</vt:lpstr>
      <vt:lpstr>METODE UTILE ȊN LUCRUL CU DICȚIONARE</vt:lpstr>
      <vt:lpstr>PROBLEME: LUCRUL CU DICȚIONARELE</vt:lpstr>
      <vt:lpstr>PROBLEME: LUCRUL CU DICȚIONARELE</vt:lpstr>
      <vt:lpstr>PROBLEME: LUCRUL CU DICȚIONARELE</vt:lpstr>
      <vt:lpstr>PROBLEME: LUCRUL CU DICȚIONARELE</vt:lpstr>
      <vt:lpstr>REZOLVĂ INDEPENDENT: LUCRUL CU DICȚIONARELE</vt:lpstr>
      <vt:lpstr>REZOLVĂ INDEPENDENT: LUCRUL CU DICȚIONARELE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Пользователь</dc:creator>
  <cp:lastModifiedBy>Пользователь</cp:lastModifiedBy>
  <cp:revision>168</cp:revision>
  <dcterms:created xsi:type="dcterms:W3CDTF">2020-09-11T06:42:56Z</dcterms:created>
  <dcterms:modified xsi:type="dcterms:W3CDTF">2022-11-07T11:31:10Z</dcterms:modified>
</cp:coreProperties>
</file>